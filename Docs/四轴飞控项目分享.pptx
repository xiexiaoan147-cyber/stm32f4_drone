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开场:用一分钟讲为什么做这个项目——自动化专业想补齐'控制算法+嵌入式实时系统'的完整闭环。一句话定位:这不是航模组装,而是自己写的一套飞控软件栈。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快速过一遍结构,告诉大家本次重点是第3、4部分:姿态解算与控制算法的原理。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强调两点:1)这是软件栈项目,不是组装航模;2)如实说明当前进度——代码和测试完成、待台架。诚实是加分项,后面验证页会展示测试证据。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讲清数据流向:左边传感器世界,右边执行器世界,中间三级流水线;下方Comm是旁路指令链。重点讲'为什么用队列不用全局变量'和'校准为什么放在采集任务'(I2C单一拥有者,后面踩坑页呼应)。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面试高频:优先级为什么这么排——数据流上游被阻塞会饿死下游;控制任务反而不是最高,因为它消费的是别人产物。SysTick双跳指HAL_IncTick+xPortSysTickHandler同一个中断,解决HAL时基冻结,踩坑页细讲。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讲I2C时序常识:400kHz快速模式、上拉电阻;突发读14字节保证三轴数据同一时刻采样。校准放采集任务的原因在架构页已埋伏笔。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滤波是'信号与系统'知识的直接应用:一阶IIR、级联提阶、增益-相位折中。可以提一句:更好的做法是Notch滤除桨叶频率,留作future work。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'为什么必须解算':传感器不直接给姿态。两条途径各有软肋,融合是必然——为下一页Mahony做铺垫。三种表示的对比表回答'为什么用四元数':万向节锁用一句大白话解释(pitch抬到90度时,再转roll和yaw效果一样,丢了一个自由度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本页是算法核心:按①→④讲一遍闭环。类比:陀螺是'自信但会迷路的人',加计是'记不清过程但知道家在哪的人'。面试常问:与卡尔曼比较——Mahony计算量小、无需噪声模型,精度够用;EKF更优但M4上开销大。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这页展示'从需求反推传感器方案'的思路:想要定高→没有高度计→退而求其次用加速度。坦诚说明局限(长时间悬停会缓慢漂),体现工程权衡。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用'现在/过去/未来'三个词讲透PID:P看现在,I记旧账,D预判趋势。副作用列一定要讲——工程就是取舍。整定顺序是实操经验,台架调参会按这个来。右下角两个细节直接衔接下一页项目实现。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串级PID是本项目与公司方向(运动控制)最对口的部分。讲清'内环快、外环慢'的带宽分离原则;三个工程细节都是真实修过的坑,能体现深度。面试必问抗饱和:clamping vs back-calculation。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布局图讲一遍符号推导,证明矩阵不是抄的。共模/差模正交性为下一页'三环协同'做铺垫。最后一行红字是安全意识的体现,面试官喜欢。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用'油门归属权'一句话讲透状态机:FOLLOW归人,HOVER归az环,LANDING归状态机;姿态永远归PID。讲清松杆3秒自动降落是刻意设计(无高度计不敢久悬)。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安全链是飞控区别于普通嵌入式项目的地方:每个保护都有'为什么'——NaN会绕过所有if、单帧噪声不能停电机、半空断电比缓降危险。讲两个真实案例更打动人:NaN那条和姿态丢失那条。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这页回答最常被问的'环之间打架吗':串级部分是故意耦合;az环靠共模/差模正交+慢一个数量级(时间尺度分离)实现工程解耦;残余三条耦合要能说出来,尤其②饱和,是真风险。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把协议设计与自己的另一个项目对比,展示'不是只会一种套路'。逐字节状态机+重同步是嵌入式通用功,面试可展开讲粘包/断帧怎么处理。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结尾停顿两秒,主动邀请提问:'姿态解算和控制两块都可以往深了聊'。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STM32F411 四轴无人机飞控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BDD7EE"/>
                </a:solidFill>
                <a:latin typeface="微软雅黑"/>
                <a:ea typeface="微软雅黑"/>
              </a:rPr>
              <a:t>从传感器到电机:一个小型飞控系统的设计与实现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</a:rPr>
              <a:t>项目技术分享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汇报人:____        日期:2026-08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5720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8EAADB"/>
                </a:solidFill>
                <a:latin typeface="微软雅黑"/>
                <a:ea typeface="微软雅黑"/>
              </a:rPr>
              <a:t>FreeRTOS · Mahony · 串级PID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分享脉络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600200"/>
            <a:ext cx="89611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项目概览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定位 · 硬件 · 技术栈 · 当前状态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41448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441448"/>
            <a:ext cx="89611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系统架构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RTOS 任务划分 · 数据流 · 同步机制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82696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3282696"/>
            <a:ext cx="89611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姿态解算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数学原理 → 滤波 → Mahony → 垂直加速度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23944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4123944"/>
            <a:ext cx="89611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控制算法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PID 原理 → 串级实现 → X 型混控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65192"/>
            <a:ext cx="914400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ED7D31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4965192"/>
            <a:ext cx="8961120" cy="658368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D9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微软雅黑"/>
                <a:ea typeface="微软雅黑"/>
              </a:rPr>
              <a:t>飞行逻辑  </a:t>
            </a: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状态机 · 多级安全链 · 三环协同 · 通信协议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项目概览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一句话:基于 FreeRTOS 的四轴飞控软件栈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669280" cy="5394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它是什么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▸ 从 IMU 原始数据到 4 路电机 PWM 的完整控制链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▸ 自研通信协议 + 飞行状态机 + 七级安全链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▸ 纯 C / 裸 FreeRTOS,不依赖任何开源飞控(βflight等)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技术栈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▸ C99 · STM32 HAL · FreeRTOS V11 · Makefile(GCC-ARM)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微软雅黑"/>
                <a:ea typeface="微软雅黑"/>
              </a:rPr>
              <a:t>▸ Mahony 互补滤波 · 串级 PID · X 型混控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00000"/>
                </a:solidFill>
                <a:latin typeface="微软雅黑"/>
                <a:ea typeface="微软雅黑"/>
              </a:rPr>
              <a:t>当前状态(如实)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E7D32"/>
                </a:solidFill>
                <a:latin typeface="微软雅黑"/>
                <a:ea typeface="微软雅黑"/>
              </a:rPr>
              <a:t>✓ 全部模块代码完成 + 单元级回归测试通过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E7D32"/>
                </a:solidFill>
                <a:latin typeface="微软雅黑"/>
                <a:ea typeface="微软雅黑"/>
              </a:rPr>
              <a:t>✓ 主机端全树语法/类型检查通过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D7D31"/>
                </a:solidFill>
                <a:latin typeface="微软雅黑"/>
                <a:ea typeface="微软雅黑"/>
              </a:rPr>
              <a:t>○ 待完成:实机交叉编译 → 台架验证 → 参数整定 → 首飞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234440"/>
          <a:ext cx="53035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28600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硬件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型号 / 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MCU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STM32F411CEU6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100MHz · FPU · 128K RAM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IMU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MPU6050 (6轴)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姿态感知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电机驱动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TIM3 4路 PWM 4kHz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空心杯四电机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通信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USART1 + BT 模块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指令/遥测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时钟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HSE 25M → PLL 100M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全系统时基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保护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IWDG 独立看门狗 1s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任务卡死复位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4709160"/>
            <a:ext cx="5303520" cy="12344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关键指标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采样 500Hz · 姿态 500Hz · 控制 200Hz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代码 ~4700 行 / 23 个应用模块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系统架构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四任务流水线 + 中断前端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MPU6050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I²C 400kHz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600200" cy="82296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手机 App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BLE→UART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ImuRead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500Hz · 优先级6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采集+零偏校准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Attitude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500Hz · 优先级5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滤波+Mahony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Control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200Hz · 优先级4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安全链+串级PID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170432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Mixer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+ TIM3 PWM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微软雅黑"/>
                <a:ea typeface="微软雅黑"/>
              </a:rPr>
              <a:t>4kHz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834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Comm 任务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事件驱动 · 优先级3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BLE帧解析分发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34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USART1 ISR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逐字节接收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1664208"/>
            <a:ext cx="6858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664208"/>
            <a:ext cx="9144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1664208"/>
            <a:ext cx="914400" cy="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1664208"/>
            <a:ext cx="3200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51760" y="3291840"/>
            <a:ext cx="91440" cy="0"/>
          </a:xfrm>
          <a:prstGeom prst="line">
            <a:avLst/>
          </a:prstGeom>
          <a:ln w="25400">
            <a:solidFill>
              <a:srgbClr val="2E75B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291840"/>
            <a:ext cx="91440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00800" y="2148840"/>
            <a:ext cx="0" cy="68580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09160" y="173736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队列×10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73736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</a:rPr>
              <a:t>g_att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10128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/>
                <a:ea typeface="微软雅黑"/>
              </a:rPr>
              <a:t>队列×64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286000"/>
            <a:ext cx="2011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</a:rPr>
              <a:t>SetTarget/Arm/Emergency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557784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设计要点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采集/解算/控制/通信四任务解耦,数据流单向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队列做背压与缓冲,ISR 只做入队(短平快)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零偏校准放 ImuRead:运行期单一 I²C 拥有者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姿态共享区:高优先级写+临界区读,免锁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0624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频率与负载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500Hz 采样匹配 MPU6050 1kHz 输出率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200Hz 控制 = 5ms,角度环带宽足够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Control 每拍喂 IWDG,卡死 1s 内复位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CPU 占用估算 &lt;30%(浮点全走 FPU)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FreeRTOS 任务设计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优先级 = 数据流上游更高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914400"/>
                <a:gridCol w="1051560"/>
                <a:gridCol w="5120640"/>
                <a:gridCol w="15544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栈(words)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阻塞点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ImuRead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2ms / 500Hz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256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MPU6050 读取 → xImuQueue;上电零偏校准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vTaskDelayUntil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Attitude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2ms / 500Hz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512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二阶低通 + Mahony → g_att;az 解算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xQueueReceive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Control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5ms / 200Hz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512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安全链→状态机→串级PID→混控;喂狗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vTaskDelayUntil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Comm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事件驱动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384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BLE 帧解析 → 目标/解锁/急停分发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xQueueReceive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20624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同步机制选型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消息队列:IMU 帧(深10)/ 串口字节(深64)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二值信号量:校准完成才放行解算任务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临界区:控制目标的 4×float 原子快照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不用互斥量的场合:读多写少+整写整读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20624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配置要点 (FreeRTOSConfig.h)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tick 1kHz · 抢占式 + 时间片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heap_4 共 15KB,栈溢出检测 level2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MAX_SYSCALL 优先级=5:ISR API 边界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SVC/PendSV 由端口层接管,SysTick 双跳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模块① IMU 采集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MPU6050 · I²C1 PB8/PB9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760720" cy="502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驱动要点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上电序列:WHO_AM_I 验证(0x68)→复位→唤醒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量程配置:陀螺 ±250°/s / 加计 ±2g / DLPF 44Hz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一次突发读 14 字节(加速度+温度+角速度)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原始值→SI 单位:加计 m/s²,陀螺 rad/s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E75B6"/>
                </a:solidFill>
                <a:latin typeface="微软雅黑"/>
                <a:ea typeface="微软雅黑"/>
              </a:rPr>
              <a:t>   (全链路 SI,避免单位混乱的经典坑)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微软雅黑"/>
                <a:ea typeface="微软雅黑"/>
              </a:rPr>
              <a:t>换算系数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±2g: 16384 LSB/g → ax = raw/16384 × 9.81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微软雅黑"/>
                <a:ea typeface="微软雅黑"/>
              </a:rPr>
              <a:t>▸ ±250°/s: 131 LSB/(°/s) → gx = raw/131 × π/180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零偏校准 (Gyro Bias)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上电静置 0.5s:采样 250 帧</a:t>
            </a:r>
          </a:p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bias = Σgyro / 有效样本数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此后每帧: gyro -= bias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只统计读成功的样本(修复点)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20624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为什么要校准?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MEMS 陀螺零偏典型 1~3°/s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不校准:积分姿态每分钟漂 60~180°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加计无法校零偏(它测的是重力,本就有值)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模块② 数据滤波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二阶 IIR 低通 · 级联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一阶低通(指数平滑)</a:t>
            </a:r>
          </a:p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2E75B6"/>
                </a:solidFill>
                <a:latin typeface="微软雅黑"/>
                <a:ea typeface="微软雅黑"/>
              </a:rPr>
              <a:t>y[n] = α·x[n] + (1−α)·y[n−1]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α=0.3 @500Hz → 截止约 -3dB @ ~90Hz 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二阶 = 两级级联</a:t>
            </a:r>
          </a:p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微软雅黑"/>
                <a:ea typeface="微软雅黑"/>
              </a:rPr>
              <a:t>x → [LPF] → y1 → [LPF] → y2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滚降更陡(-40dB/dec),同截止噪声更小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54864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为什么要滤波?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电机 4kHz PWM + 机架共振 → 加计高频噪声大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陀螺噪声直接进 PID 的 D 项会被微分放大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姿态有用信号 &lt;20Hz,与噪声频段分离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49240" cy="5029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滤波后的数据链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原始 gyro → 减零偏 → LPF×2 → Mahony 积分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原始 acc  →          LPF×2 → Mahony 修正</a:t>
            </a:r>
          </a:p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取舍说明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D7D31"/>
                </a:solidFill>
                <a:latin typeface="微软雅黑"/>
                <a:ea typeface="微软雅黑"/>
              </a:rPr>
              <a:t>▸ 滤波引入相位滞后 → 姿态响应变慢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D7D31"/>
                </a:solidFill>
                <a:latin typeface="微软雅黑"/>
                <a:ea typeface="微软雅黑"/>
              </a:rPr>
              <a:t>▸ 截止频率是'噪声 vs 响应'的折中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硬件侧 MPU 自带 DLPF 44Hz 先粗滤一层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陀螺通路滤波轻一些:内环要快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姿态解算原理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两条观测途径 + 三种数学表示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760720" cy="5212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为什么要'解算'?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IMU 不直接给姿态:陀螺输出角速度,加计输出比力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姿态是隐藏状态,必须由算法估计出来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5B6"/>
                </a:solidFill>
                <a:latin typeface="微软雅黑"/>
                <a:ea typeface="微软雅黑"/>
              </a:rPr>
              <a:t>途径一:陀螺积分(高频好,会漂移)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5B6"/>
                </a:solidFill>
                <a:latin typeface="微软雅黑"/>
                <a:ea typeface="微软雅黑"/>
              </a:rPr>
              <a:t>   q̇ = ½ q ⊗ ω   →   q ← q + q̇·dt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零偏 1°/s 不校准 → 姿态每分钟漂 60°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  <a:ea typeface="微软雅黑"/>
              </a:rPr>
              <a:t>途径二:加计测重力(低频准,动态脏)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微软雅黑"/>
                <a:ea typeface="微软雅黑"/>
              </a:rPr>
              <a:t>   roll = atan2(ay, az)</a:t>
            </a: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微软雅黑"/>
                <a:ea typeface="微软雅黑"/>
              </a:rPr>
              <a:t>   pitch = atan2(−ax, √(ay²+az²))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静止时即真实倾角;一动就被运动加速度污染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→ 各取所长做融合,就是姿态解算的出发点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234440"/>
          <a:ext cx="5303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40080"/>
                <a:gridCol w="347472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表示方法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 / 劣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欧拉角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直观;有万向节锁(pitch=±90°时 roll/yaw 同轴,丢失一个自由度)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旋转矩阵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无奇异;参数冗余,运算量大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四元数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无奇异;只有乘加运算,FPU 友好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4572000"/>
            <a:ext cx="5303520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选型:四元数做内部状态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欧拉角只在人机接口两端转换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姿态误差用叉积(三维)表示,天然适配反馈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模块③ Mahony 互补滤波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陀螺管快,加计管准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互补思想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陀螺仪:积分得姿态 → 高频好,会漂移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加速度计:测重力方向 → 低频准,动态噪声大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→ 高通+低通在频域上互补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→ 陀螺负责动态,加计长期'拽回'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539496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参数与收敛特性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Kp=0.5:加计权重,越大收敛越快但噪声越大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Ki=0.05:积分反馈,消除陀螺残余零偏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定步长 dt=2ms(500Hz),数值稳定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静止时任一初始姿态,数秒内对准重力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1298448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① 积分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1298448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q̇ = ½ q ⊗ ω·dt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四元数一阶积分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每步归一化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62088" y="1664208"/>
            <a:ext cx="182879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44967" y="1417320"/>
            <a:ext cx="1298448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② 重力估计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7" y="2011680"/>
            <a:ext cx="1298448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由当前 q 推算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'重力应指向哪'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v = R(q)·[0,0,1]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43415" y="1664208"/>
            <a:ext cx="182881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26296" y="1417320"/>
            <a:ext cx="1298448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③ 误差叉积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011680"/>
            <a:ext cx="1298448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e = a_measured × v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'实测重力'与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'估计重力'的偏差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24744" y="1664208"/>
            <a:ext cx="18288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707624" y="1417320"/>
            <a:ext cx="1298448" cy="5029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④ PI 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07624" y="2011680"/>
            <a:ext cx="1298448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ω' = ω + Kp·e + Ki·∫e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修正陀螺角速度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再进入积分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ED7D31"/>
                </a:solidFill>
                <a:latin typeface="微软雅黑"/>
                <a:ea typeface="微软雅黑"/>
              </a:rPr>
              <a:t>有效性门限:|a|∉[0.5,20]m/s² 时跳过修正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→ 剧烈机动/自由落体时加计不可信,只信陀螺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12064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2E7D32"/>
                </a:solidFill>
                <a:latin typeface="微软雅黑"/>
                <a:ea typeface="微软雅黑"/>
              </a:rPr>
              <a:t>输出:roll/pitch/yaw (rad) + 四元数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→ 无磁力计,yaw 缓慢漂移(只控角速度,不做航向角闭环)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模块④ 垂直加速度 az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旋转矩阵去重力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577840" cy="26517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5B6"/>
                </a:solidFill>
                <a:latin typeface="微软雅黑"/>
                <a:ea typeface="微软雅黑"/>
              </a:rPr>
              <a:t>a_world = R(q) · a_body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取世界系 z 分量(R 第三行):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az = 2(q1q3−q0q2)·ax + 2(q2q3+q0q1)·ay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微软雅黑"/>
                <a:ea typeface="微软雅黑"/>
              </a:rPr>
              <a:t>     + (q0²−q1²−q2²+q3²)·az − g</a:t>
            </a:r>
          </a:p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物理含义:扣除重力后的净垂直加速度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55778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为什么需要它?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没有气压计/高度计 → 无法直接定高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但'悬停'的物理条件是 az = 0(升力=重力)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微软雅黑"/>
                <a:ea typeface="微软雅黑"/>
              </a:rPr>
              <a:t>▸ 用加速度信号闭环逼近悬停,不积分不漂移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精度依赖姿态精度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姿态误差 θ → az 误差 ≈ g·θ²/2(二阶小量)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小角度下安全;大倾角需姿态准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D7D31"/>
                </a:solidFill>
                <a:latin typeface="微软雅黑"/>
                <a:ea typeface="微软雅黑"/>
              </a:rPr>
              <a:t>▸ 曾发现系数符号写反(转置矩阵)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2E7D32"/>
                </a:solidFill>
                <a:latin typeface="微软雅黑"/>
                <a:ea typeface="微软雅黑"/>
              </a:rPr>
              <a:t>   → 已修复并加回归用例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840480"/>
            <a:ext cx="5303520" cy="256032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az 环怎么用(预告)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微软雅黑"/>
                <a:ea typeface="微软雅黑"/>
              </a:rPr>
              <a:t>悬停态:throttle −= az × 0.0002 (每 5ms)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az&gt;0 在升 → 收油门;az&lt;0 在掉 → 加油门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收敛到 az≈0,即'加速度意义下的悬停'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ED7D31"/>
                </a:solidFill>
                <a:latin typeface="微软雅黑"/>
                <a:ea typeface="微软雅黑"/>
              </a:rPr>
              <a:t>局限:速度不为零时'托住'的是当前运动趋势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PID 控制原理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P/I/D 三项各自的本质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连续形式</a:t>
            </a:r>
          </a:p>
          <a:p>
            <a:pPr algn="ctr">
              <a:spcAft>
                <a:spcPts val="200"/>
              </a:spcAft>
            </a:pPr>
            <a:r>
              <a:rPr sz="1650" b="1" i="0">
                <a:solidFill>
                  <a:srgbClr val="2E75B6"/>
                </a:solidFill>
                <a:latin typeface="微软雅黑"/>
                <a:ea typeface="微软雅黑"/>
              </a:rPr>
              <a:t>u(t) = Kp·e(t) + Ki·∫e(t)dt + Kd·de/dt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e = 目标值 − 反馈值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53212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离散实现(每拍执行)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integral += e·dt;  deriv = (e−e_prev)/dt</a:t>
            </a:r>
          </a:p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  <a:ea typeface="微软雅黑"/>
              </a:rPr>
              <a:t>u = Kp·e + Ki·integral + Kd·deriv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2928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108960"/>
                <a:gridCol w="3017520"/>
                <a:gridCol w="41605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物理直觉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带来的好处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副作用(没有免费的午餐)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 比例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'现在'的误差,立即纠正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响应快,主干增益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留稳态误差;过大致震荡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 积分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'过去'误差的累积,不归零不罢休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消除稳态误差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响应慢;积分饱和→超调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D 微分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'未来'趋势的预判,提前刹车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阻尼,抑制震荡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放大噪声;打杆瞬间 kick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5486400" cy="137160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工程整定顺序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① 先 P:加到临界震荡,回退 ~30%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② 再 D:压住震荡(加阻尼)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③ 最后小 I:只用来消静差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074920"/>
            <a:ext cx="5532120" cy="13716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两个进阶细节(下页实现中落地)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D 用测量值微分 → 消 derivative kick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I 用输出限幅 + 回算 → 抗积分饱和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模块⑤ 串级 PID 控制器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角度环 P + 角速度环 PID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目标角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±30°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角度环 P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×6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期望角速度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限±200°/s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微软雅黑"/>
                <a:ea typeface="微软雅黑"/>
              </a:rPr>
              <a:t>角速度环 PID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200Hz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23444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595959"/>
                </a:solidFill>
                <a:latin typeface="微软雅黑"/>
                <a:ea typeface="微软雅黑"/>
              </a:rPr>
              <a:t>力矩 ±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R/P/Y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1554480"/>
            <a:ext cx="64008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95160" y="1554480"/>
            <a:ext cx="640080" cy="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1554480"/>
            <a:ext cx="64008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196596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E75B6"/>
                </a:solidFill>
                <a:latin typeface="微软雅黑"/>
                <a:ea typeface="微软雅黑"/>
              </a:rPr>
              <a:t>e = 目标角−姿态角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6596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D7D31"/>
                </a:solidFill>
                <a:latin typeface="微软雅黑"/>
                <a:ea typeface="微软雅黑"/>
              </a:rPr>
              <a:t>e = 期望−实测ω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5146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34747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kp_angle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6.0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角度差→期望角速度(姿态自稳刚度)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kp_rate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0.15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角速度误差→力矩(阻尼)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ki_rate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2.0 /s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消除恒值扰动(重心偏/风)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kd_rate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0.005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角速度变化率的阻尼(抑震荡)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80060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为什么串级?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单级角度PID:姿态变化时已滞后,易震荡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内环以200Hz直接压制角速度 → 外环只管'想去哪'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yaw 无角度外环(无磁力计,航向不可观)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14600"/>
            <a:ext cx="5486400" cy="38404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</a:rPr>
              <a:t>三个工程细节(踩坑修复项)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① 积分 ×dt:离散积分量纲归一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I_out = ki·Σ(e·dt),不随控制频率改变意义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② 抗饱和 = 输出限幅 + 回算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I 项权限钳 ±0.15(15%油门),超限回写积分器</a:t>
            </a:r>
          </a:p>
          <a:p>
            <a:pPr algn="l">
              <a:spcAft>
                <a:spcPts val="200"/>
              </a:spcAft>
            </a:pPr>
            <a:r>
              <a:rPr sz="400" b="0" i="0">
                <a:solidFill>
                  <a:srgbClr val="595959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595959"/>
                </a:solidFill>
                <a:latin typeface="微软雅黑"/>
                <a:ea typeface="微软雅黑"/>
              </a:rPr>
              <a:t>③ D 项用测量值微分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d(−gyro)/dt 而非 d(err)/dt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   → 打杆瞬间无 derivative kick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模块⑥ X 型混控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油门+三力矩 → 四电机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M2 前左(逆)      M1 前右(顺)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╲            ╱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  ╲        ╱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           ╳   机头↑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  ╱        ╲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595959"/>
                </a:solidFill>
                <a:latin typeface="微软雅黑"/>
                <a:ea typeface="微软雅黑"/>
              </a:rPr>
              <a:t>      ╱            ╲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M3 后左(顺)      M4 后右(逆)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混控矩阵 (T=油门, R/P/Y=力矩)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M1 = T + P − R − Y      M2 = T + P + R + Y</a:t>
            </a:r>
          </a:p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微软雅黑"/>
                <a:ea typeface="微软雅黑"/>
              </a:rPr>
              <a:t>M3 = T − P + R − Y      M4 = T − P − R + 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各路 clamp [0,1] 后写 TIM3 CCR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79476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E7D32"/>
                </a:solidFill>
                <a:latin typeface="微软雅黑"/>
                <a:ea typeface="微软雅黑"/>
              </a:rPr>
              <a:t>符号自洽性:+R→左桨加速=右滚  +P→前桨加速=抬头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43400"/>
            <a:ext cx="5486400" cy="201168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共模/差模视角(关键)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油门 = 共模:四桨同增减 → 只变总推力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力矩 = 差模:对角互补,和为零 → 只变力矩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▸ 二者近似正交 → 高度环与姿态环解耦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5120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</a:rPr>
              <a:t>⚠ 首飞前必台架验证:电机通道映射与桨向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00000"/>
                </a:solidFill>
                <a:latin typeface="微软雅黑"/>
                <a:ea typeface="微软雅黑"/>
              </a:rPr>
              <a:t>   (代码正确 ≠ 接线正确,方向错=首炸)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模块⑦ 飞行状态机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五个状态,核心是'油门归谁管'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IDLE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上电/急停后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电机停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DISARMED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已解锁,油门&lt;5%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电机停,等推杆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FOLLOW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油门&gt;5%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油门直接跟杆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60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HOVER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松杆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az闭环悬停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46920" y="137160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微软雅黑"/>
                <a:ea typeface="微软雅黑"/>
              </a:rPr>
              <a:t>LANDING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收油/超时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匀速缓降-0.3/s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704320" y="1984248"/>
            <a:ext cx="2286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54480" y="2651760"/>
            <a:ext cx="10241280" cy="0"/>
          </a:xfrm>
          <a:prstGeom prst="line">
            <a:avLst/>
          </a:prstGeom>
          <a:ln w="25400">
            <a:solidFill>
              <a:srgbClr val="ED7D31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54480" y="2606040"/>
            <a:ext cx="0" cy="45720"/>
          </a:xfrm>
          <a:prstGeom prst="line">
            <a:avLst/>
          </a:prstGeom>
          <a:ln w="25400">
            <a:solidFill>
              <a:srgbClr val="ED7D31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0" y="26974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D7D31"/>
                </a:solidFill>
                <a:latin typeface="微软雅黑"/>
                <a:ea typeface="微软雅黑"/>
              </a:rPr>
              <a:t>落地自动上锁 → IDLE(任意时刻可被急停拉回)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迁移规则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解锁+推油门&gt;5% → FOLLOW 起飞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松杆 → HOVER:保留当前油门为闭环起点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HOVER 满 3s → 自动缓降(独立计时器)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再推杆 → 从 HOVER 抢回 FOLLOW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落地(油门降到0) → 自动上锁回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832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操作者视角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姿态杆任何飞行状态都有效(姿态环常开)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▸ 唯一时序规则:'松杆3秒必降落'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悬停中打杆平移,az环自动补倾角掉高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微软雅黑"/>
                <a:ea typeface="微软雅黑"/>
              </a:rPr>
              <a:t>▸ 落地自动 disarm,不会'落地又窜起'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模块⑧ 七级安全链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每 5ms 自上而下短路评估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54480"/>
                <a:gridCol w="2286000"/>
                <a:gridCol w="137160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检查项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触发条件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动作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设计考量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急停锁存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emergency 标志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电机立即停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上锁才能清除,防误触恢复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未解锁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!armed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电机停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上电锁:双重防线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2.5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数据有效性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NaN/Inf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立即急停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NaN 比较恒假,会绕过一切保护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姿态超限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|角|&gt;45° 持续200ms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去抖防单帧噪声误杀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失控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1s 无指令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转缓降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不直接停机(半空断电=摔)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悬停超时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HOVER 满 3s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转缓降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无高度计,限制久悬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姿态丢失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0.5s 无新姿态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急停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防电机冻结在最后占空比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看门狗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IWDG 1s 未喂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芯片复位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任务卡死兜底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49240"/>
            <a:ext cx="1124712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设计原则:失效安全(fail-safe)逐级降级 —— 能缓降不悬停,能悬停不停机,该停机绝不犹豫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三环如何协同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姿态环 vs az环:并联+解耦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96012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az 环(慢环)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积分式调油门 ≤0.4油门/s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063240"/>
            <a:ext cx="5394960" cy="960120"/>
          </a:xfrm>
          <a:prstGeom prst="roundRect">
            <a:avLst>
              <a:gd name="adj" fmla="val 12000"/>
            </a:avLst>
          </a:prstGeom>
          <a:solidFill>
            <a:srgbClr val="FDF0E6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微软雅黑"/>
                <a:ea typeface="微软雅黑"/>
              </a:rPr>
              <a:t>角度环→角速度环(快环)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</a:rPr>
              <a:t>200Hz,毫秒级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2103120" cy="105156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/>
                <a:ea typeface="微软雅黑"/>
              </a:rPr>
              <a:t>Mixer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共模‖差模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1031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E2EFDA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595959"/>
                </a:solidFill>
                <a:latin typeface="微软雅黑"/>
                <a:ea typeface="微软雅黑"/>
              </a:rPr>
              <a:t>4×电机</a:t>
            </a:r>
          </a:p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PWM 4kHz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194560"/>
            <a:ext cx="3200400" cy="18288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00400" y="2926080"/>
            <a:ext cx="3200400" cy="640080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2624328"/>
            <a:ext cx="54864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12080" y="1783080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微软雅黑"/>
                <a:ea typeface="微软雅黑"/>
              </a:rPr>
              <a:t>油门T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657600"/>
            <a:ext cx="1463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ED7D31"/>
                </a:solidFill>
                <a:latin typeface="微软雅黑"/>
                <a:ea typeface="微软雅黑"/>
              </a:rPr>
              <a:t>力矩R/P/Y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292840" cy="178308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微软雅黑"/>
                <a:ea typeface="微软雅黑"/>
              </a:rPr>
              <a:t>三条真实耦合通路(不能装看不见)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① 倾角→升力损失:倾角θ时垂直升力×cosθ → az环被动补油门(悬停压坡不掉高,有利)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② 电机饱和抢权限:T贴0.85/0.30边界时姿态差动被clamp削掉 → 预留15%余量的原因(待做Airmode式去饱和)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③ 估计误差串扰:az由姿态四元数计算,姿态不准→az不准(二阶小量)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241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</a:rPr>
              <a:t>模块⑨ BLE 通信协议</a:t>
            </a:r>
            <a:r>
              <a:rPr sz="1400" b="0" i="0">
                <a:solidFill>
                  <a:srgbClr val="BDD7EE"/>
                </a:solidFill>
                <a:latin typeface="微软雅黑"/>
                <a:ea typeface="微软雅黑"/>
              </a:rPr>
              <a:t>   自定义二进制帧 + 逐字节状态机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0xA5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STX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CMD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命令字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LEN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长度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DATA 0~16B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小端 float32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XOR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32588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0x5A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微软雅黑"/>
                <a:ea typeface="微软雅黑"/>
              </a:rPr>
              <a:t>ETX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606040"/>
          <a:ext cx="5577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3291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CMD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</a:p>
                  </a:txBody>
                  <a:tcPr marL="50800" marR="50800" marT="12700" marB="127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PING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—(回ACK)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0x20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紧急停机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0x24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解锁/上锁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1字节 1/0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0x40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四通道综合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595959"/>
                          </a:solidFill>
                          <a:latin typeface="微软雅黑"/>
                          <a:ea typeface="微软雅黑"/>
                        </a:rPr>
                        <a:t>4×float: T/roll/pitch/yaw_rate</a:t>
                      </a:r>
                    </a:p>
                  </a:txBody>
                  <a:tcPr marL="50800" marR="50800" marT="12700" marB="1270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92240" y="2606040"/>
            <a:ext cx="5303520" cy="2743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F3864"/>
                </a:solidFill>
                <a:latin typeface="微软雅黑"/>
                <a:ea typeface="微软雅黑"/>
              </a:rPr>
              <a:t>解析器设计(中断安全)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ISR 只做:收字节→入队(不解析)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Comm 任务逐字节喂状态机: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   IDLE→CMD→LEN→DATA→CHK→ETX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校验=XOR(CMD,LEN,DATA),ETX独立校验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非法长度/校验失败 → 整帧丢弃重同步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微软雅黑"/>
                <a:ea typeface="微软雅黑"/>
              </a:rPr>
              <a:t>▸ SETPOINT 带范围与 isfinite 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5577840" cy="137160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8100" rIns="38100" tIns="25400" bIns="25400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3864"/>
                </a:solidFill>
                <a:latin typeface="微软雅黑"/>
                <a:ea typeface="微软雅黑"/>
              </a:rPr>
              <a:t>与 RK3568 项目协议对比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那边:文本+换行分帧;这边:二进制+定界+校验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微软雅黑"/>
                <a:ea typeface="微软雅黑"/>
              </a:rPr>
              <a:t>→ 资源与可靠性要求不同,选型不同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BDD7EE"/>
                </a:solidFill>
                <a:latin typeface="微软雅黑"/>
                <a:ea typeface="微软雅黑"/>
              </a:rPr>
              <a:t>用控制理论 + 嵌入式工程能力,打通'算法-实时系统-硬件'的闭环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Q &amp; A   ·   欢迎拍砖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EAADB"/>
                </a:solidFill>
                <a:latin typeface="微软雅黑"/>
                <a:ea typeface="微软雅黑"/>
              </a:rPr>
              <a:t>代码仓库: github.com/xiexiaoan147-cyber/STM32F4_Drone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