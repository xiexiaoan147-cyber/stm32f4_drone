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开场定调:今天不讲'我做了什么',重点讲'它为什么这样工作'。IMU和Mahony部分全部用图解加大白话,不需要数学背景也能跟上。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一句话:前半场讲'传感器和数学',后半场讲'控制和工程'。IMU和Mahony是今天的重头。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图解讲法:左边静止时质量块只是上下振动;一旦旋转,振动的质量块被科氏力推向一侧,梳齿电容变化——测这个偏移就是测角速度。三个特点层层递进,最后一句'撑不起姿态'直接引出下一页加速度计。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梯是讲'比力'最好的类比:超重/失重时秤读数变了,但重力没变——变的是支撑力。加速度计就是秤。静止时它输出的就是重力方向,所以能当倾角计;一旦运动,运动加速度混进来就脏了。两个'结论'盒子为下一页融合做足铺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这张图是整个姿态解算的动机:绿色加计在低频(慢变化)可信,蓝色陀螺在高频可信,中间有个交界。互补滤波就是让两家各干各擅长的频段。先建立这张图,再看Mahony公式就不抽象了。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先把两个坐标系画出来,姿态就是它们之间的旋转——这句话立住了,后面全通。万向节锁别推公式,就讲'三次旋转中两次撞到同一根轴'。表格回答为什么工程上选四元数。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降低恐惧感:四元数工程用法就三招。左边轴角图建立直觉——一个单位四元数就是'绕这根轴转这个角'。右边两个盒子是本项目真正在跑的全部公式:一个更新,一个输出。易错点全是实测踩过的。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三个实用要点:门限(机动时禁用加计)、调参判据(Kp看静止收敛时间)、滤波取舍(谁重滤谁轻滤)。这些是看完原理后真正上手会问的问题。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讲清数据流向:左边传感器世界,右边执行器世界,中间三级流水线;下方Comm是旁路指令链。重点讲'为什么用队列不用全局变量'和'校准为什么放在采集任务'(I2C单一拥有者,后面踩坑页呼应)。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先给全景:主链路是上面一行(陀螺→积分→q→欧拉角);加计从左边进来,经叉积算误差,PI后'拧'陀螺——注意不是直接改q,而是修正角速度再积分,这是Mahony优雅的地方。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逐条讲,每条都给'它在干什么'的人话。②是灵魂:两个单位向量叉积,模=sin夹角,方向=把预测转回实测的旋转轴——姿态误差天然可当作角速度误差用。④归一化别忘。底部调参给可操作判据。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这页展示'从需求反推传感器方案'的思路:想要定高→没有高度计→退而求其次用加速度。坦诚说明局限(长时间悬停会缓慢漂),体现工程权衡。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用'现在/过去/未来'三个词讲透PID:P看现在,I记旧账,D预判趋势。副作用列一定要讲——工程就是取舍。整定顺序是实操经验,台架调参会按这个来。右下角两个细节直接衔接下一页项目实现。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串级PID是本项目与公司方向(运动控制)最对口的部分。讲清'内环快、外环慢'的带宽分离原则;三个工程细节都是真实修过的坑,能体现深度。面试必问抗饱和:clamping vs back-calculation。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布局图讲一遍符号推导,证明矩阵不是抄的。共模/差模正交性为下一页'三环协同'做铺垫。最后一行红字是安全意识的体现,面试官喜欢。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用'油门归属权'一句话讲透状态机:FOLLOW归人,HOVER归az环,LANDING归状态机;姿态永远归PID。讲清松杆3秒自动降落是刻意设计(无高度计不敢久悬)。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安全链是飞控区别于普通嵌入式项目的地方:每个保护都有'为什么'——NaN会绕过所有if、单帧噪声不能停电机、半空断电比缓降危险。讲两个真实案例更打动人:NaN那条和姿态丢失那条。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这页回答最常被问的'环之间打架吗':串级部分是故意耦合;az环靠共模/差模正交+慢一个数量级(时间尺度分离)实现工程解耦;残余三条耦合要能说出来,尤其②饱和,是真风险。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把协议设计与自己的另一个项目对比,展示'不是只会一种套路'。逐字节状态机+重同步是嵌入式通用功,面试可展开讲粘包/断帧怎么处理。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收尾保持低调,开放提问。可以主动引导:'想再聊电梯那个比力类比的细节,或者串级PID的调参,都可以。'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 i="0">
                <a:solidFill>
                  <a:srgbClr val="FFFFFF"/>
                </a:solidFill>
                <a:latin typeface="微软雅黑"/>
                <a:ea typeface="微软雅黑"/>
              </a:rPr>
              <a:t>四轴飞控:把原理讲透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71800"/>
            <a:ext cx="103327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0" i="0">
                <a:solidFill>
                  <a:srgbClr val="BDD7EE"/>
                </a:solidFill>
                <a:latin typeface="微软雅黑"/>
                <a:ea typeface="微软雅黑"/>
              </a:rPr>
              <a:t>IMU 到底在测什么 · Mahony 怎么融合 · PID 怎么串起来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</a:rPr>
              <a:t>一次偏原理的技术分享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EAADB"/>
                </a:solidFill>
                <a:latin typeface="微软雅黑"/>
                <a:ea typeface="微软雅黑"/>
              </a:rPr>
              <a:t>主讲:____ · 2026-08 · 配套代码 github.com/xiexiaoan147-cyber/STM32F4_Drone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分享脉络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63040" y="1737360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60320" y="173736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系统一瞥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四层数据流 · 任务与节奏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63040" y="2761488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761488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IMU 工作原理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陀螺仪 · 加速度计 · 为什么必须融合 (图解)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3785616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3785616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姿态解算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姿态怎么表示 · 四元数 · Mahony 原理与四步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63040" y="4809744"/>
            <a:ext cx="914400" cy="77724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2400" b="1" i="0">
                <a:solidFill>
                  <a:srgbClr val="ED7D31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0320" y="4809744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1F3864"/>
                </a:solidFill>
                <a:latin typeface="微软雅黑"/>
                <a:ea typeface="微软雅黑"/>
              </a:rPr>
              <a:t>控制与实现   </a:t>
            </a: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PID · 串级 · 混控 · 状态机 · 安全链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原理① 陀螺仪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旋转让振动的东西受到侧向力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274320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89888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① 静止:质量块被驱动上下振动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880360"/>
            <a:ext cx="66751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58568" y="2880360"/>
            <a:ext cx="66751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2296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92608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2296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2608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2296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92608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1490472" y="2496312"/>
            <a:ext cx="768096" cy="768096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D7D31"/>
                </a:solidFill>
                <a:latin typeface="微软雅黑"/>
                <a:ea typeface="微软雅黑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55848"/>
            <a:ext cx="2560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质量块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874519" y="1709928"/>
            <a:ext cx="0" cy="603504"/>
          </a:xfrm>
          <a:prstGeom prst="line">
            <a:avLst/>
          </a:prstGeom>
          <a:ln w="22860">
            <a:solidFill>
              <a:srgbClr val="2E75B6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947672" y="1801368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v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微软雅黑"/>
                <a:ea typeface="微软雅黑"/>
              </a:rPr>
              <a:t>振动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9000" y="1325880"/>
            <a:ext cx="274320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20440" y="1389888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② 旋转:振动+旋转 → 侧向科氏力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749039" y="2880360"/>
            <a:ext cx="941833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458968" y="2880360"/>
            <a:ext cx="393192" cy="0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749039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5852160" y="2633472"/>
            <a:ext cx="0" cy="164591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749039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852160" y="2798064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749039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852160" y="2962656"/>
            <a:ext cx="0" cy="164592"/>
          </a:xfrm>
          <a:prstGeom prst="line">
            <a:avLst/>
          </a:prstGeom>
          <a:ln w="1524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4690872" y="2496312"/>
            <a:ext cx="768096" cy="768096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ED7D31"/>
                </a:solidFill>
                <a:latin typeface="微软雅黑"/>
                <a:ea typeface="微软雅黑"/>
              </a:rP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0440" y="3355848"/>
            <a:ext cx="2560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质量块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800600" y="1709928"/>
            <a:ext cx="0" cy="603504"/>
          </a:xfrm>
          <a:prstGeom prst="line">
            <a:avLst/>
          </a:prstGeom>
          <a:ln w="22860">
            <a:solidFill>
              <a:srgbClr val="2E75B6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873752" y="1801368"/>
            <a:ext cx="914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v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2E75B6"/>
                </a:solidFill>
                <a:latin typeface="微软雅黑"/>
                <a:ea typeface="微软雅黑"/>
              </a:rPr>
              <a:t>振动</a:t>
            </a:r>
          </a:p>
        </p:txBody>
      </p:sp>
      <p:sp>
        <p:nvSpPr>
          <p:cNvPr id="34" name="Circular Arrow 33"/>
          <p:cNvSpPr/>
          <p:nvPr/>
        </p:nvSpPr>
        <p:spPr>
          <a:xfrm>
            <a:off x="5440680" y="1481328"/>
            <a:ext cx="502920" cy="502920"/>
          </a:xfrm>
          <a:prstGeom prst="circularArrow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57800" y="2011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532120" y="2057400"/>
            <a:ext cx="0" cy="685800"/>
          </a:xfrm>
          <a:prstGeom prst="line">
            <a:avLst/>
          </a:prstGeom>
          <a:ln w="3175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41848" y="2103120"/>
            <a:ext cx="10972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F 科氏力</a:t>
            </a:r>
          </a:p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C00000"/>
                </a:solidFill>
                <a:latin typeface="微软雅黑"/>
                <a:ea typeface="微软雅黑"/>
              </a:rPr>
              <a:t>侧向推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4617720"/>
            <a:ext cx="5669280" cy="16916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输出 = 角速度 ω (deg/s 或 rad/s)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电容极板检测质量块位移 → ∝ 角速度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F = −2m (ω × v):v 振动已知,测 F 反解 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7960" y="1280160"/>
            <a:ext cx="5257800" cy="5029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三个必须记住的特点</a:t>
            </a:r>
          </a:p>
          <a:p>
            <a:pPr algn="l">
              <a:spcAft>
                <a:spcPts val="4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C00000"/>
                </a:solidFill>
                <a:latin typeface="微软雅黑"/>
                <a:ea typeface="微软雅黑"/>
              </a:rPr>
              <a:t>① 它测角速度,不测角度!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   角度要自己积分:θ = ∫ω·dt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D7D31"/>
                </a:solidFill>
                <a:latin typeface="微软雅黑"/>
                <a:ea typeface="微软雅黑"/>
              </a:rPr>
              <a:t>② 有零偏 bias:静止时也输出'假角速度'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   每颗芯片不同(1~3°/s),必须上电校准</a:t>
            </a:r>
          </a:p>
          <a:p>
            <a:pPr algn="l">
              <a:spcAft>
                <a:spcPts val="4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ED7D31"/>
                </a:solidFill>
                <a:latin typeface="微软雅黑"/>
                <a:ea typeface="微软雅黑"/>
              </a:rPr>
              <a:t>③ 积分误差随时间累积</a:t>
            </a:r>
          </a:p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   1°/s 零偏没校准 → 姿态每分钟漂 60°</a:t>
            </a:r>
          </a:p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50" b="1" i="0">
                <a:solidFill>
                  <a:srgbClr val="1F3864"/>
                </a:solidFill>
                <a:latin typeface="微软雅黑"/>
                <a:ea typeface="微软雅黑"/>
              </a:rPr>
              <a:t>结论:陀螺'快但会漂',它自己撑不起姿态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D32"/>
                </a:solidFill>
                <a:latin typeface="微软雅黑"/>
                <a:ea typeface="微软雅黑"/>
              </a:rPr>
              <a:t>→ 需要另一个不漂的绝对基准来纠偏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原理② 加速度计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先想一个电梯问题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静止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6187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1615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0584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秤 = 1g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向上加速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864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7355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2783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01752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0604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秤 &gt; 1g 超重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4087368" y="1874519"/>
            <a:ext cx="0" cy="640081"/>
          </a:xfrm>
          <a:prstGeom prst="line">
            <a:avLst/>
          </a:prstGeom>
          <a:ln w="2794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977639" y="2542032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26280" y="1325880"/>
            <a:ext cx="1783080" cy="2834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1389888"/>
            <a:ext cx="16916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自由下落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10328" y="1783080"/>
            <a:ext cx="1005840" cy="1691640"/>
          </a:xfrm>
          <a:prstGeom prst="rect">
            <a:avLst/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285232" y="1920240"/>
            <a:ext cx="256032" cy="256032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239512" y="2231136"/>
            <a:ext cx="347472" cy="685800"/>
          </a:xfrm>
          <a:prstGeom prst="rect">
            <a:avLst/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0" y="3127248"/>
            <a:ext cx="768096" cy="146304"/>
          </a:xfrm>
          <a:prstGeom prst="rect">
            <a:avLst/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17720" y="3383280"/>
            <a:ext cx="16002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秤 = 0 失重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9048" y="1920240"/>
            <a:ext cx="0" cy="640080"/>
          </a:xfrm>
          <a:prstGeom prst="line">
            <a:avLst/>
          </a:prstGeom>
          <a:ln w="2794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943600" y="1965960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E7D32"/>
                </a:solidFill>
                <a:latin typeface="微软雅黑"/>
                <a:ea typeface="微软雅黑"/>
              </a:rPr>
              <a:t>自由</a:t>
            </a:r>
          </a:p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2E7D32"/>
                </a:solidFill>
                <a:latin typeface="微软雅黑"/>
                <a:ea typeface="微软雅黑"/>
              </a:rPr>
              <a:t>落体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343400"/>
            <a:ext cx="5806440" cy="21031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关键洞察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▸ 秤测的从来不是'加速度',是'支撑力'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▸ 加速度计就是那个'秤':它测的是比力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      f = a − g   (specific force)</a:t>
            </a:r>
          </a:p>
          <a:p>
            <a:pPr algn="l">
              <a:spcAft>
                <a:spcPts val="400"/>
              </a:spcAft>
            </a:pPr>
            <a:r>
              <a:rPr sz="1450" b="0" i="0">
                <a:solidFill>
                  <a:srgbClr val="595959"/>
                </a:solidFill>
                <a:latin typeface="微软雅黑"/>
                <a:ea typeface="微软雅黑"/>
              </a:rPr>
              <a:t>▸ 静止时 a=0 → 输出恰好是 −g(重力!)</a:t>
            </a:r>
          </a:p>
          <a:p>
            <a:pPr algn="l">
              <a:spcAft>
                <a:spcPts val="400"/>
              </a:spcAft>
            </a:pPr>
            <a:r>
              <a:rPr sz="1450" b="1" i="0">
                <a:solidFill>
                  <a:srgbClr val="2E7D32"/>
                </a:solidFill>
                <a:latin typeface="微软雅黑"/>
                <a:ea typeface="微软雅黑"/>
              </a:rPr>
              <a:t>   → 免费获得了一个'永远指向地心'的参考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1325880"/>
            <a:ext cx="525780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1F3864"/>
                </a:solidFill>
                <a:latin typeface="微软雅黑"/>
                <a:ea typeface="微软雅黑"/>
              </a:rPr>
              <a:t>于是加速度计 = 倾角计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5B6"/>
                </a:solidFill>
                <a:latin typeface="微软雅黑"/>
                <a:ea typeface="微软雅黑"/>
              </a:rPr>
              <a:t>roll  = atan2( ay , az )</a:t>
            </a:r>
          </a:p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2E75B6"/>
                </a:solidFill>
                <a:latin typeface="微软雅黑"/>
                <a:ea typeface="微软雅黑"/>
              </a:rPr>
              <a:t>pitch = atan2( −ax , √(ay²+az²) 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板子一倾斜,重力在三轴的分量就变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→ 解三角函数就能反推出倾角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3840480"/>
            <a:ext cx="5257800" cy="24688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50" b="1" i="0">
                <a:solidFill>
                  <a:srgbClr val="C00000"/>
                </a:solidFill>
                <a:latin typeface="微软雅黑"/>
                <a:ea typeface="微软雅黑"/>
              </a:rPr>
              <a:t>但它有个致命弱点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▸ 它分不清'重力'和'运动加速度'!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电机一转、机身一晃,读数立刻被污染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转弯时的离心加速度也会被当成'倾斜'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结论:加计'准但脏'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→ 静止时是天使,机动时是噪音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IMU 原理③ 为什么融合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一个管快,一个管准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1005840" y="1554480"/>
            <a:ext cx="0" cy="2606040"/>
          </a:xfrm>
          <a:prstGeom prst="line">
            <a:avLst/>
          </a:prstGeom>
          <a:ln w="2286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05840" y="4160520"/>
            <a:ext cx="8412480" cy="0"/>
          </a:xfrm>
          <a:prstGeom prst="line">
            <a:avLst/>
          </a:prstGeom>
          <a:ln w="2286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28600" y="1481328"/>
            <a:ext cx="777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可信度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24528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低频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4224528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高频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224528"/>
            <a:ext cx="2194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信号的频率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05840" y="1997049"/>
            <a:ext cx="290648" cy="21824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296488" y="2215292"/>
            <a:ext cx="290649" cy="1946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587137" y="2409965"/>
            <a:ext cx="290648" cy="17364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877785" y="2583614"/>
            <a:ext cx="290649" cy="1548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168434" y="2738510"/>
            <a:ext cx="290648" cy="138167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459082" y="2876677"/>
            <a:ext cx="290649" cy="12324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749731" y="2999923"/>
            <a:ext cx="290649" cy="109935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40380" y="3109858"/>
            <a:ext cx="290648" cy="9806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331028" y="3207921"/>
            <a:ext cx="290649" cy="8747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21677" y="3295393"/>
            <a:ext cx="290648" cy="7802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912325" y="3373419"/>
            <a:ext cx="290649" cy="6959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02974" y="3443018"/>
            <a:ext cx="290648" cy="6208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493622" y="3505101"/>
            <a:ext cx="290649" cy="55378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784271" y="3560479"/>
            <a:ext cx="290649" cy="49397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074920" y="3609876"/>
            <a:ext cx="290648" cy="4406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65568" y="3653938"/>
            <a:ext cx="290649" cy="39304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656217" y="3693242"/>
            <a:ext cx="290648" cy="3505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46865" y="3728301"/>
            <a:ext cx="290649" cy="312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237514" y="3759574"/>
            <a:ext cx="290648" cy="278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528162" y="3787470"/>
            <a:ext cx="290649" cy="2488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18811" y="3812352"/>
            <a:ext cx="290649" cy="22196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109460" y="3834548"/>
            <a:ext cx="290648" cy="19799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400108" y="3854347"/>
            <a:ext cx="290649" cy="17660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690757" y="3872007"/>
            <a:ext cx="290648" cy="1575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981405" y="3887760"/>
            <a:ext cx="290649" cy="14052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272054" y="3901812"/>
            <a:ext cx="290648" cy="12534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562702" y="3914346"/>
            <a:ext cx="290649" cy="11181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853351" y="3925527"/>
            <a:ext cx="290649" cy="9973"/>
          </a:xfrm>
          <a:prstGeom prst="line">
            <a:avLst/>
          </a:prstGeom>
          <a:ln w="35560">
            <a:solidFill>
              <a:srgbClr val="2E7D3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005840" y="3193083"/>
            <a:ext cx="290648" cy="44440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296488" y="2870844"/>
            <a:ext cx="290649" cy="32223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87137" y="2637184"/>
            <a:ext cx="290648" cy="23366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877785" y="2467754"/>
            <a:ext cx="290649" cy="16943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2168434" y="2344898"/>
            <a:ext cx="290648" cy="12285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459082" y="2255814"/>
            <a:ext cx="290649" cy="8908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749731" y="2191218"/>
            <a:ext cx="290649" cy="6459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040380" y="2144379"/>
            <a:ext cx="290648" cy="4683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3331028" y="2110415"/>
            <a:ext cx="290649" cy="3396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621677" y="2085787"/>
            <a:ext cx="290648" cy="2462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912325" y="2067930"/>
            <a:ext cx="290649" cy="1785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4202974" y="2054981"/>
            <a:ext cx="290648" cy="12949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493622" y="2045591"/>
            <a:ext cx="290649" cy="939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784271" y="2038783"/>
            <a:ext cx="290649" cy="680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074920" y="2033846"/>
            <a:ext cx="290648" cy="493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5365568" y="2030266"/>
            <a:ext cx="290649" cy="358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656217" y="2027671"/>
            <a:ext cx="290648" cy="2595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5946865" y="2025788"/>
            <a:ext cx="290649" cy="1883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237514" y="2024424"/>
            <a:ext cx="290648" cy="136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6528162" y="2023434"/>
            <a:ext cx="290649" cy="99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6818811" y="2022716"/>
            <a:ext cx="290649" cy="71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109460" y="2022196"/>
            <a:ext cx="290648" cy="520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400108" y="2021819"/>
            <a:ext cx="290649" cy="377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7690757" y="2021545"/>
            <a:ext cx="290648" cy="27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7981405" y="2021347"/>
            <a:ext cx="290649" cy="198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8272054" y="2021203"/>
            <a:ext cx="290648" cy="14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8562702" y="2021099"/>
            <a:ext cx="290649" cy="104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8853351" y="2021023"/>
            <a:ext cx="290649" cy="76"/>
          </a:xfrm>
          <a:prstGeom prst="line">
            <a:avLst/>
          </a:prstGeom>
          <a:ln w="35560">
            <a:solidFill>
              <a:srgbClr val="2E75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234440" y="1691640"/>
            <a:ext cx="23774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加速度计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23760" y="1783080"/>
            <a:ext cx="1828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陀螺仪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4617720" y="1600200"/>
            <a:ext cx="0" cy="2560320"/>
          </a:xfrm>
          <a:prstGeom prst="line">
            <a:avLst/>
          </a:prstGeom>
          <a:ln w="19050">
            <a:solidFill>
              <a:srgbClr val="C00000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3977639" y="1325880"/>
            <a:ext cx="2103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0000"/>
                </a:solidFill>
                <a:latin typeface="微软雅黑"/>
                <a:ea typeface="微软雅黑"/>
              </a:rPr>
              <a:t>交界(截止频率)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88720" y="4892040"/>
            <a:ext cx="3840480" cy="13716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互补滤波 = 频域分工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姿态 = 低通(加计) + 高通(陀螺)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两条曲线拼起来 = 全带宽可信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349240" y="4892040"/>
            <a:ext cx="64465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落到这个项目上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陀螺积分给'动态',加计长期'拽回'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Mahony 就是这种融合的经典实现(下一页)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姿态怎么表示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先画两个坐标系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3749039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3108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世界系(固定不动): 东-北-地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3794760"/>
            <a:ext cx="123444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246120" y="3648456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y东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1965960" y="2560320"/>
            <a:ext cx="0" cy="123444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020824" y="2313432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595959"/>
                </a:solidFill>
                <a:latin typeface="微软雅黑"/>
                <a:ea typeface="微软雅黑"/>
              </a:rPr>
              <a:t>x北</a:t>
            </a:r>
          </a:p>
        </p:txBody>
      </p:sp>
      <p:sp>
        <p:nvSpPr>
          <p:cNvPr id="12" name="Oval 11"/>
          <p:cNvSpPr/>
          <p:nvPr/>
        </p:nvSpPr>
        <p:spPr>
          <a:xfrm>
            <a:off x="1874519" y="3703320"/>
            <a:ext cx="182880" cy="182880"/>
          </a:xfrm>
          <a:prstGeom prst="ellipse">
            <a:avLst/>
          </a:prstGeom>
          <a:noFill/>
          <a:ln w="1905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911095" y="3739896"/>
            <a:ext cx="109729" cy="109728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911095" y="3739896"/>
            <a:ext cx="109729" cy="109728"/>
          </a:xfrm>
          <a:prstGeom prst="line">
            <a:avLst/>
          </a:prstGeom>
          <a:ln w="19050">
            <a:solidFill>
              <a:srgbClr val="59595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075688" y="3648456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595959"/>
                </a:solidFill>
                <a:latin typeface="微软雅黑"/>
                <a:ea typeface="微软雅黑"/>
              </a:rPr>
              <a:t>z地(出屏)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353312"/>
            <a:ext cx="25603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机体系(跟着飞机转)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4343400" y="2409086"/>
            <a:ext cx="1046864" cy="654154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35984" y="231764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x前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43400" y="3063240"/>
            <a:ext cx="348954" cy="557241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765506" y="3638769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y右</a:t>
            </a:r>
          </a:p>
        </p:txBody>
      </p:sp>
      <p:sp>
        <p:nvSpPr>
          <p:cNvPr id="21" name="Oval 20"/>
          <p:cNvSpPr/>
          <p:nvPr/>
        </p:nvSpPr>
        <p:spPr>
          <a:xfrm>
            <a:off x="4251960" y="2971800"/>
            <a:ext cx="182880" cy="182880"/>
          </a:xfrm>
          <a:prstGeom prst="ellipse">
            <a:avLst/>
          </a:prstGeom>
          <a:noFill/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288536" y="3008376"/>
            <a:ext cx="109728" cy="109728"/>
          </a:xfrm>
          <a:prstGeom prst="line">
            <a:avLst/>
          </a:prstGeom>
          <a:ln w="1905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4288536" y="3008376"/>
            <a:ext cx="109728" cy="109728"/>
          </a:xfrm>
          <a:prstGeom prst="line">
            <a:avLst/>
          </a:prstGeom>
          <a:ln w="19050">
            <a:solidFill>
              <a:srgbClr val="1F386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53128" y="2916936"/>
            <a:ext cx="12801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3864"/>
                </a:solidFill>
                <a:latin typeface="微软雅黑"/>
                <a:ea typeface="微软雅黑"/>
              </a:rPr>
              <a:t>z下(出屏)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840480" y="2560320"/>
            <a:ext cx="0" cy="0"/>
          </a:xfrm>
          <a:prstGeom prst="line">
            <a:avLst/>
          </a:prstGeom>
          <a:ln w="33020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846320" y="3566160"/>
            <a:ext cx="0" cy="0"/>
          </a:xfrm>
          <a:prstGeom prst="line">
            <a:avLst/>
          </a:prstGeom>
          <a:ln w="33020">
            <a:solidFill>
              <a:srgbClr val="ED7D3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3675887" y="2395728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809744" y="2395728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675887" y="3529584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809744" y="3529584"/>
            <a:ext cx="201168" cy="201168"/>
          </a:xfrm>
          <a:prstGeom prst="ellipse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ircular Arrow 30"/>
          <p:cNvSpPr/>
          <p:nvPr/>
        </p:nvSpPr>
        <p:spPr>
          <a:xfrm>
            <a:off x="2880360" y="2377440"/>
            <a:ext cx="548640" cy="548640"/>
          </a:xfrm>
          <a:prstGeom prst="circular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0" y="1691640"/>
            <a:ext cx="29260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C00000"/>
                </a:solidFill>
                <a:latin typeface="微软雅黑"/>
                <a:ea typeface="微软雅黑"/>
              </a:rPr>
              <a:t>姿态 q =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C00000"/>
                </a:solidFill>
                <a:latin typeface="微软雅黑"/>
                <a:ea typeface="微软雅黑"/>
              </a:rPr>
              <a:t>这两个坐标系的旋转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572000"/>
            <a:ext cx="5303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E75B6"/>
                </a:solidFill>
                <a:latin typeface="微软雅黑"/>
                <a:ea typeface="微软雅黑"/>
              </a:rPr>
              <a:t>传感器读数在机体系;重力在世界系 z 轴 → 解算=找两者关系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6400800" y="1280160"/>
          <a:ext cx="539496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685800"/>
                <a:gridCol w="3474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表示方法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一句话评价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欧拉角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直观;有万向节锁;适合给人看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旋转矩阵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无奇异;但参数冗余运算大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四元数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无奇异;只有乘加;工程首选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400800" y="3657600"/>
            <a:ext cx="5394960" cy="26517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万向节锁,一句话版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欧拉角规定按 Z→Y→X 三次转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抬头到 90° 那一刻,第一次转的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   偏航和第三次转的横滚变成同一根轴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00000"/>
                </a:solidFill>
                <a:latin typeface="微软雅黑"/>
                <a:ea typeface="微软雅黑"/>
              </a:rPr>
              <a:t>▸ 三个自由度只剩两个 → 姿态'卡死'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四元数/矩阵是'一次转到位',没有这个坑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四元数怎么用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别怕,工程上只用三招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5486400" cy="2514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B8C6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53312"/>
            <a:ext cx="41148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直觉:单位四元数 = 绕某根轴转一个角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1920240" y="2194560"/>
            <a:ext cx="1554480" cy="1051560"/>
          </a:xfrm>
          <a:prstGeom prst="line">
            <a:avLst/>
          </a:prstGeom>
          <a:ln w="3175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154680" y="1920239"/>
            <a:ext cx="1463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转轴 n</a:t>
            </a:r>
          </a:p>
        </p:txBody>
      </p:sp>
      <p:sp>
        <p:nvSpPr>
          <p:cNvPr id="10" name="Circular Arrow 9"/>
          <p:cNvSpPr/>
          <p:nvPr/>
        </p:nvSpPr>
        <p:spPr>
          <a:xfrm>
            <a:off x="3154680" y="2560320"/>
            <a:ext cx="566928" cy="566928"/>
          </a:xfrm>
          <a:prstGeom prst="circularArrow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23160" y="2926079"/>
            <a:ext cx="109728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D7D31"/>
                </a:solidFill>
                <a:latin typeface="微软雅黑"/>
                <a:ea typeface="微软雅黑"/>
              </a:rPr>
              <a:t>转角 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1783080"/>
            <a:ext cx="4206240" cy="566928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2E75B6"/>
                </a:solidFill>
                <a:latin typeface="微软雅黑"/>
                <a:ea typeface="微软雅黑"/>
              </a:rPr>
              <a:t>q = [ cos(θ/2),  n·sin(θ/2) 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69080"/>
            <a:ext cx="5486400" cy="22402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工程上只需记住三件事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① q⊗p = 两个旋转叠加(先q后p)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② |q| 必须保持 = 1(每步归一化)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③ 共轭 q* = 反着转(坐标系互转用)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D32"/>
                </a:solidFill>
                <a:latin typeface="微软雅黑"/>
                <a:ea typeface="微软雅黑"/>
              </a:rPr>
              <a:t>内部用四元数算,给人看时转欧拉角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280160"/>
            <a:ext cx="5440680" cy="22402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唯一的核心方程:姿态更新</a:t>
            </a:r>
          </a:p>
          <a:p>
            <a:pPr algn="l">
              <a:spcAft>
                <a:spcPts val="200"/>
              </a:spcAft>
            </a:pPr>
            <a:r>
              <a:rPr sz="1900" b="1" i="0">
                <a:solidFill>
                  <a:srgbClr val="2E75B6"/>
                </a:solidFill>
                <a:latin typeface="微软雅黑"/>
                <a:ea typeface="微软雅黑"/>
              </a:rPr>
              <a:t>q̇ = ½ q ⊗ [0, ω]</a:t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每个周期:  q ← q + q̇·dt , 再归一化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陀螺给的角速度,就这样'转'进姿态里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3794760"/>
            <a:ext cx="5440680" cy="2514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输出:转成欧拉角给人看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roll  = atan2( 2(q0q1+q2q3), 1−2(q1²+q2²) 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pitch = asin( 2(q0q2−q3q1) )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yaw   = atan2( 2(q0q3+q1q2), 1−2(q2²+q3²) )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▸ 三个易错点:ω 用 rad/s 且已减零偏;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  dt 用实测值;asin 参数要钳位防 NaN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Mahony 使用要点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门限 · 调参 · 滤波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3657600" cy="50292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C00000"/>
                </a:solidFill>
                <a:latin typeface="微软雅黑"/>
                <a:ea typeface="微软雅黑"/>
              </a:rPr>
              <a:t>修正门限(重要)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当 |a| ∉ [0.5, 20] m/s²: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C00000"/>
                </a:solidFill>
                <a:latin typeface="微软雅黑"/>
                <a:ea typeface="微软雅黑"/>
              </a:rPr>
              <a:t>跳过加计修正,只信陀螺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为什么?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机动/振动时,加计测的不只是重力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这时它的'倾角信息'是错的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宁可暂时漂,也不能被它带偏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→ 类比:导航员晕船时,先别听他的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234440"/>
            <a:ext cx="3657600" cy="5029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两个参数怎么调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Kp = 0.5:拽回的力度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大:收敛快但姿态抖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小:平稳但纠偏慢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▸ 判据:静止放置,1~2 秒内对准水平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Ki = 0.05:消'慢性子'偏差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针对陀螺残余零偏(温漂后)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从 Kp/10 起步,漂移大才加大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D32"/>
                </a:solidFill>
                <a:latin typeface="微软雅黑"/>
                <a:ea typeface="微软雅黑"/>
              </a:rPr>
              <a:t>本项目: Kp=0.5, Ki=0.05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83879" y="1234440"/>
            <a:ext cx="3611880" cy="5029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进数据前先滤波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y[n]=(1−α)y[n−1]+αx[n]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电机/机架振动几十~几百Hz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姿态信号 &lt;20Hz,滤掉不吃亏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两级级联=二阶,更干净</a:t>
            </a:r>
          </a:p>
          <a:p>
            <a:pPr algn="l">
              <a:spcAft>
                <a:spcPts val="200"/>
              </a:spcAft>
            </a:pPr>
            <a:r>
              <a:rPr sz="8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取舍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ED7D31"/>
                </a:solidFill>
                <a:latin typeface="微软雅黑"/>
                <a:ea typeface="微软雅黑"/>
              </a:rPr>
              <a:t>▸ 滤得越狠,相位滞后越大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加计重滤(它只供慢基准)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陀螺轻滤(内环要快)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系统架构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四任务流水线 + 中断前端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25880"/>
            <a:ext cx="1600200" cy="68580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MPU6050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I²C 400kHz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1600200" cy="82296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手机 App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BLE→UART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ImuRead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优先级6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采集+零偏校准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Attitude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500Hz · 优先级5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滤波+Mahony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188720"/>
            <a:ext cx="182880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Control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 · 优先级4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安全链+串级PID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78440" y="1170432"/>
            <a:ext cx="1417320" cy="10058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+ TIM3 PWM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4kHz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Comm 任务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事件驱动 · 优先级3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BLE帧解析分发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834640"/>
            <a:ext cx="1828800" cy="9144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USART1 ISR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逐字节接收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57400" y="1664208"/>
            <a:ext cx="6858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572000" y="1664208"/>
            <a:ext cx="9144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315200" y="1664208"/>
            <a:ext cx="91440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400" y="1664208"/>
            <a:ext cx="3200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651760" y="3291840"/>
            <a:ext cx="91440" cy="0"/>
          </a:xfrm>
          <a:prstGeom prst="line">
            <a:avLst/>
          </a:prstGeom>
          <a:ln w="25400">
            <a:solidFill>
              <a:srgbClr val="2E75B6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572000" y="3291840"/>
            <a:ext cx="914400" cy="0"/>
          </a:xfrm>
          <a:prstGeom prst="line">
            <a:avLst/>
          </a:prstGeom>
          <a:ln w="25400">
            <a:solidFill>
              <a:srgbClr val="2E75B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6400800" y="2148840"/>
            <a:ext cx="0" cy="68580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091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1737360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g_att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310128"/>
            <a:ext cx="822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/>
                <a:ea typeface="微软雅黑"/>
              </a:rPr>
              <a:t>队列×64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0528" y="2286000"/>
            <a:ext cx="20116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ED7D31"/>
                </a:solidFill>
                <a:latin typeface="微软雅黑"/>
                <a:ea typeface="微软雅黑"/>
              </a:rPr>
              <a:t>SetTarget/Arm/Emergency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06240"/>
            <a:ext cx="557784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设计要点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采集/解算/控制/通信四任务解耦,数据流单向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队列做背压与缓冲,ISR 只做入队(短平快)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零偏校准放 ImuRead:运行期单一 I²C 拥有者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姿态共享区:高优先级写+临界区读,免锁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4206240"/>
            <a:ext cx="5486400" cy="2103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频率与负载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500Hz 采样匹配 MPU6050 1kHz 输出率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200Hz 控制 = 5ms,角度环带宽足够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Control 每拍喂 IWDG,卡死 1s 内复位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CPU 占用估算 &lt;30%(浮点全走 FPU)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Mahony 互补滤波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总框图:陀螺主内,加计纠偏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160020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陀螺 ω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rad/s·去零偏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417320"/>
            <a:ext cx="50292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1F3864"/>
                </a:solidFill>
                <a:latin typeface="微软雅黑"/>
                <a:ea typeface="微软雅黑"/>
              </a:rPr>
              <a:t>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325880"/>
            <a:ext cx="196596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积分更新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q ← q+½q⊗ω'·dt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8932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四元数 q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每步归一化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32588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欧拉角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roll/pitch/yaw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3063240"/>
            <a:ext cx="1554480" cy="7772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重力预测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微软雅黑"/>
                <a:ea typeface="微软雅黑"/>
              </a:rPr>
              <a:t>v = R(q)ᵀ·[0,0,1]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06240" y="3063240"/>
            <a:ext cx="50292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C00000"/>
                </a:solidFill>
                <a:latin typeface="微软雅黑"/>
                <a:ea typeface="微软雅黑"/>
              </a:rPr>
              <a:t>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63240"/>
            <a:ext cx="1600200" cy="7772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加计 a</a:t>
            </a:r>
          </a:p>
          <a:p>
            <a:pPr algn="ctr">
              <a:spcAft>
                <a:spcPts val="200"/>
              </a:spcAft>
            </a:pPr>
            <a:r>
              <a:rPr sz="1050" b="0" i="0">
                <a:solidFill>
                  <a:srgbClr val="595959"/>
                </a:solidFill>
                <a:latin typeface="微软雅黑"/>
                <a:ea typeface="微软雅黑"/>
              </a:rPr>
              <a:t>归一化为单位向量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434840"/>
            <a:ext cx="2286000" cy="82296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PI 修正</a:t>
            </a:r>
          </a:p>
          <a:p>
            <a:pPr algn="ctr">
              <a:spcAft>
                <a:spcPts val="200"/>
              </a:spcAft>
            </a:pPr>
            <a:r>
              <a:rPr sz="1200" b="1" i="0">
                <a:solidFill>
                  <a:srgbClr val="2E75B6"/>
                </a:solidFill>
                <a:latin typeface="微软雅黑"/>
                <a:ea typeface="微软雅黑"/>
              </a:rPr>
              <a:t>ω' = ω + Kp·e + Ki·∫e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48840" y="1709928"/>
            <a:ext cx="4572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08960" y="1709928"/>
            <a:ext cx="4114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486400" y="1709928"/>
            <a:ext cx="50292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543800" y="1709928"/>
            <a:ext cx="5486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66560" y="2103120"/>
            <a:ext cx="0" cy="96012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4709160" y="3447288"/>
            <a:ext cx="128016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148840" y="3447288"/>
            <a:ext cx="205740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3931920" y="3840480"/>
            <a:ext cx="521208" cy="594360"/>
          </a:xfrm>
          <a:prstGeom prst="line">
            <a:avLst/>
          </a:prstGeom>
          <a:ln w="25400">
            <a:solidFill>
              <a:srgbClr val="C000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2834640" y="4846320"/>
            <a:ext cx="50292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834640" y="2011680"/>
            <a:ext cx="0" cy="283464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800600" y="2697480"/>
            <a:ext cx="17373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误差 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" y="489204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D7D31"/>
                </a:solidFill>
                <a:latin typeface="微软雅黑"/>
                <a:ea typeface="微软雅黑"/>
              </a:rPr>
              <a:t>修正量回注陀螺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3063240"/>
            <a:ext cx="1828800" cy="2194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50" b="1" i="0">
                <a:solidFill>
                  <a:srgbClr val="1F3864"/>
                </a:solidFill>
                <a:latin typeface="微软雅黑"/>
                <a:ea typeface="微软雅黑"/>
              </a:rPr>
              <a:t>有效性门限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|a| 超出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[0.5,20]m/s²</a:t>
            </a:r>
          </a:p>
          <a:p>
            <a:pPr algn="ctr">
              <a:spcAft>
                <a:spcPts val="200"/>
              </a:spcAft>
            </a:pPr>
            <a:r>
              <a:rPr sz="1150" b="1" i="0">
                <a:solidFill>
                  <a:srgbClr val="C00000"/>
                </a:solidFill>
                <a:latin typeface="微软雅黑"/>
                <a:ea typeface="微软雅黑"/>
              </a:rPr>
              <a:t>跳过修正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595959"/>
                </a:solidFill>
                <a:latin typeface="微软雅黑"/>
                <a:ea typeface="微软雅黑"/>
              </a:rPr>
              <a:t>(机动时只信陀螺)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Mahony 四步拆解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每步一行代码级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① 重力预测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31720" y="1188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由当前 q 算'重力应在机体系哪个方向'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v = R(q)ᵀ·[0,0,1]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1188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vx = q1q3 − q0q2   vy = q0q1 + q2q3   vz = q0² − ½ + q3²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31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② 误差 = 叉积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2331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实测重力方向 × 预测方向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e = a_norm × 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2331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方向=转回去的轴, 大小=sin夹角 (两个都单位向量)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474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③ PI 修正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31720" y="3474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误差换算成角速度修正量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ω' = ω + Kp·e + Ki·∫e·dt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3474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Kp:立即拽回(收敛快但抖)  Ki:消恒值零偏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17720"/>
            <a:ext cx="16916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</a:rPr>
              <a:t>④ 积分+归一化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331720" y="4617720"/>
            <a:ext cx="3291840" cy="9601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修正后的角速度进积分器</a:t>
            </a:r>
          </a:p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q ← q + ½·q⊗ω'·dt ; q ← q/|q|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720" y="4617720"/>
            <a:ext cx="5989320" cy="9601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D9E2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归一化防数值发散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806440"/>
            <a:ext cx="11247120" cy="8229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调参指引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Kp 从 0.5 起:静止收敛 1~2s 为宜,太快抖/太慢肉;Ki 取 Kp 的 1/10,纯陀螺漂移大才加大。检查点④:手转任意角度回平,roll/pitch 应秒级归零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垂直加速度 az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去掉重力,才知道悬停了没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577840" cy="26517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800" b="1" i="0">
                <a:solidFill>
                  <a:srgbClr val="2E75B6"/>
                </a:solidFill>
                <a:latin typeface="微软雅黑"/>
                <a:ea typeface="微软雅黑"/>
              </a:rPr>
              <a:t>a_world = R(q) · a_body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取世界系 z 分量(R 第三行):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az = 2(q1q3−q0q2)·ax + 2(q2q3+q0q1)·ay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595959"/>
                </a:solidFill>
                <a:latin typeface="微软雅黑"/>
                <a:ea typeface="微软雅黑"/>
              </a:rPr>
              <a:t>     + (q0²−q1²−q2²+q3²)·az − g</a:t>
            </a:r>
          </a:p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物理含义:扣除重力后的净垂直加速度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114800"/>
            <a:ext cx="5577840" cy="21945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为什么需要它?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没有气压计/高度计 → 无法直接定高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但'悬停'的物理条件是 az = 0(升力=重力)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95959"/>
                </a:solidFill>
                <a:latin typeface="微软雅黑"/>
                <a:ea typeface="微软雅黑"/>
              </a:rPr>
              <a:t>▸ 用加速度信号闭环逼近悬停,不积分不漂移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188720"/>
            <a:ext cx="5303520" cy="237744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精度依赖姿态精度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姿态误差 θ → az 误差 ≈ g·θ²/2(二阶小量)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小角度下安全;大倾角需姿态准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ED7D31"/>
                </a:solidFill>
                <a:latin typeface="微软雅黑"/>
                <a:ea typeface="微软雅黑"/>
              </a:rPr>
              <a:t>▸ 曾发现系数符号写反(转置矩阵)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2E7D32"/>
                </a:solidFill>
                <a:latin typeface="微软雅黑"/>
                <a:ea typeface="微软雅黑"/>
              </a:rPr>
              <a:t>   → 已修复并加回归用例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3840480"/>
            <a:ext cx="5303520" cy="256032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az 环怎么用(预告)</a:t>
            </a:r>
          </a:p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2E75B6"/>
                </a:solidFill>
                <a:latin typeface="微软雅黑"/>
                <a:ea typeface="微软雅黑"/>
              </a:rPr>
              <a:t>悬停态:throttle −= az × 0.0002 (每 5ms)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az&gt;0 在升 → 收油门;az&lt;0 在掉 → 加油门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收敛到 az≈0,即'加速度意义下的悬停'</a:t>
            </a:r>
          </a:p>
          <a:p>
            <a:pPr algn="l">
              <a:spcAft>
                <a:spcPts val="200"/>
              </a:spcAft>
            </a:pPr>
            <a:r>
              <a:rPr sz="6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ED7D31"/>
                </a:solidFill>
                <a:latin typeface="微软雅黑"/>
                <a:ea typeface="微软雅黑"/>
              </a:rPr>
              <a:t>局限:速度不为零时'托住'的是当前运动趋势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PID 控制原理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P/I/D 三项各自的本质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5486400" cy="1051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连续形式</a:t>
            </a:r>
          </a:p>
          <a:p>
            <a:pPr algn="ctr">
              <a:spcAft>
                <a:spcPts val="200"/>
              </a:spcAft>
            </a:pPr>
            <a:r>
              <a:rPr sz="1650" b="1" i="0">
                <a:solidFill>
                  <a:srgbClr val="2E75B6"/>
                </a:solidFill>
                <a:latin typeface="微软雅黑"/>
                <a:ea typeface="微软雅黑"/>
              </a:rPr>
              <a:t>u(t) = Kp·e(t) + Ki·∫e(t)dt + Kd·de/dt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e = 目标值 − 反馈值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188720"/>
            <a:ext cx="5532120" cy="10515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离散实现(每拍执行)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integral += e·dt;  deriv = (e−e_prev)/dt</a:t>
            </a:r>
          </a:p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2E7D32"/>
                </a:solidFill>
                <a:latin typeface="微软雅黑"/>
                <a:ea typeface="微软雅黑"/>
              </a:rPr>
              <a:t>u = Kp·e + Ki·integral + Kd·deriv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514600"/>
          <a:ext cx="112928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108960"/>
                <a:gridCol w="3017520"/>
                <a:gridCol w="41605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物理直觉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带来的好处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副作用(没有免费的午餐)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 比例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'现在'的误差,立即纠正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响应快,主干增益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留稳态误差;过大致震荡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 积分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'过去'误差的累积,不归零不罢休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消除稳态误差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响应慢;积分饱和→超调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D 微分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'未来'趋势的预判,提前刹车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阻尼,抑制震荡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放大噪声;打杆瞬间 kick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074920"/>
            <a:ext cx="5486400" cy="137160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工程整定顺序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① 先 P:加到临界震荡,回退 ~30%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② 再 D:压住震荡(加阻尼)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③ 最后小 I:只用来消静差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5074920"/>
            <a:ext cx="5532120" cy="13716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两个进阶细节(下页实现中落地)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D 用测量值微分 → 消 derivative kick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I 用输出限幅 + 回算 → 抗积分饱和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串级 PID 实现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角度环 P + 角速度环 PID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目标角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±30°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8036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角度环 P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×6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期望角速度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限±200°/s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3524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微软雅黑"/>
                <a:ea typeface="微软雅黑"/>
              </a:rPr>
              <a:t>角速度环 PID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200Hz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12680" y="1234440"/>
            <a:ext cx="1737360" cy="6400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595959"/>
                </a:solidFill>
                <a:latin typeface="微软雅黑"/>
                <a:ea typeface="微软雅黑"/>
              </a:rPr>
              <a:t>力矩 ±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R/P/Y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17720" y="1554480"/>
            <a:ext cx="64008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95160" y="1554480"/>
            <a:ext cx="640080" cy="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372600" y="1554480"/>
            <a:ext cx="64008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743200" y="1965960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2E75B6"/>
                </a:solidFill>
                <a:latin typeface="微软雅黑"/>
                <a:ea typeface="微软雅黑"/>
              </a:rPr>
              <a:t>e = 目标角−姿态角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1965960"/>
            <a:ext cx="2194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ED7D31"/>
                </a:solidFill>
                <a:latin typeface="微软雅黑"/>
                <a:ea typeface="微软雅黑"/>
              </a:rPr>
              <a:t>e = 期望−实测ω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51460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822960"/>
                <a:gridCol w="34747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参数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作用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kp_angle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角度差→期望角速度(姿态自稳刚度)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kp_rate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0.15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角速度误差→力矩(阻尼)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ki_rate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2.0 /s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消除恒值扰动(重心偏/风)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kd_rate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0.005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角速度变化率的阻尼(抑震荡)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02920" y="4800600"/>
            <a:ext cx="5486400" cy="1554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为什么串级?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单级角度PID:姿态变化时已滞后,易震荡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内环以200Hz直接压制角速度 → 外环只管'想去哪'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yaw 无角度外环(无磁力计,航向不可观)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2514600"/>
            <a:ext cx="5486400" cy="38404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三个工程细节(踩坑修复项)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① 积分 ×dt:离散积分量纲归一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I_out = ki·Σ(e·dt),不随控制频率改变意义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② 抗饱和 = 输出限幅 + 回算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I 项权限钳 ±0.15(15%油门),超限回写积分器</a:t>
            </a:r>
          </a:p>
          <a:p>
            <a:pPr algn="l">
              <a:spcAft>
                <a:spcPts val="200"/>
              </a:spcAft>
            </a:pPr>
            <a:r>
              <a:rPr sz="400" b="0" i="0">
                <a:solidFill>
                  <a:srgbClr val="595959"/>
                </a:solidFill>
                <a:latin typeface="微软雅黑"/>
                <a:ea typeface="微软雅黑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595959"/>
                </a:solidFill>
                <a:latin typeface="微软雅黑"/>
                <a:ea typeface="微软雅黑"/>
              </a:rPr>
              <a:t>③ D 项用测量值微分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d(−gyro)/dt 而非 d(err)/dt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   → 打杆瞬间无 derivative kick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X 型混控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油门+三力矩 → 四电机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5120640" cy="4023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M2 前左(逆)      M1 前右(顺)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╲            ╱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╲        ╱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           ╳   机头↑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  ╱        ╲</a:t>
            </a:r>
          </a:p>
          <a:p>
            <a:pPr algn="ctr">
              <a:spcAft>
                <a:spcPts val="200"/>
              </a:spcAft>
            </a:pPr>
            <a:r>
              <a:rPr sz="1600" b="0" i="0">
                <a:solidFill>
                  <a:srgbClr val="595959"/>
                </a:solidFill>
                <a:latin typeface="微软雅黑"/>
                <a:ea typeface="微软雅黑"/>
              </a:rPr>
              <a:t>      ╱            ╲</a:t>
            </a:r>
          </a:p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M3 后左(顺)      M4 后右(逆)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486400" cy="22860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混控矩阵 (T=油门, R/P/Y=力矩)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M1 = T + P − R − Y      M2 = T + P + R + Y</a:t>
            </a:r>
          </a:p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2E75B6"/>
                </a:solidFill>
                <a:latin typeface="微软雅黑"/>
                <a:ea typeface="微软雅黑"/>
              </a:rPr>
              <a:t>M3 = T − P + R − Y      M4 = T − P − R + Y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各路 clamp [0,1] 后写 TIM3 CCR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3794760"/>
            <a:ext cx="54864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2E7D32"/>
                </a:solidFill>
                <a:latin typeface="微软雅黑"/>
                <a:ea typeface="微软雅黑"/>
              </a:rPr>
              <a:t>符号自洽性:+R→左桨加速=右滚  +P→前桨加速=抬头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4343400"/>
            <a:ext cx="5486400" cy="201168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共模/差模视角(关键)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油门 = 共模:四桨同增减 → 只变总推力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力矩 = 差模:对角互补,和为零 → 只变力矩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▸ 二者近似正交 → 高度环与姿态环解耦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532120"/>
            <a:ext cx="5120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C00000"/>
                </a:solidFill>
                <a:latin typeface="微软雅黑"/>
                <a:ea typeface="微软雅黑"/>
              </a:rPr>
              <a:t>⚠ 首飞前必台架验证:电机通道映射与桨向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C00000"/>
                </a:solidFill>
                <a:latin typeface="微软雅黑"/>
                <a:ea typeface="微软雅黑"/>
              </a:rPr>
              <a:t>   (代码正确 ≠ 接线正确,方向错=首炸)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飞行状态机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五个状态,核心是'油门归谁管'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DEDED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IDLE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上电/急停后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DISARMED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已解锁,油门&lt;5%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电机停,等推杆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846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FOLLOW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油门&gt;5%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油门直接跟杆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32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HOVER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松杆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az闭环悬停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418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1371600"/>
            <a:ext cx="2057400" cy="123444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600" b="1" i="0">
                <a:solidFill>
                  <a:srgbClr val="1F3864"/>
                </a:solidFill>
                <a:latin typeface="微软雅黑"/>
                <a:ea typeface="微软雅黑"/>
              </a:rPr>
              <a:t>LANDING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收油/超时</a:t>
            </a:r>
          </a:p>
          <a:p>
            <a:pPr algn="ctr">
              <a:spcAft>
                <a:spcPts val="200"/>
              </a:spcAft>
            </a:pPr>
            <a:r>
              <a:rPr sz="1150" b="0" i="0">
                <a:solidFill>
                  <a:srgbClr val="595959"/>
                </a:solidFill>
                <a:latin typeface="微软雅黑"/>
                <a:ea typeface="微软雅黑"/>
              </a:rPr>
              <a:t>匀速缓降-0.3/s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704320" y="1984248"/>
            <a:ext cx="228600" cy="0"/>
          </a:xfrm>
          <a:prstGeom prst="line">
            <a:avLst/>
          </a:prstGeom>
          <a:ln w="25400">
            <a:solidFill>
              <a:srgbClr val="1F386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1554480" y="2651760"/>
            <a:ext cx="10241280" cy="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54480" y="2606040"/>
            <a:ext cx="0" cy="45720"/>
          </a:xfrm>
          <a:prstGeom prst="line">
            <a:avLst/>
          </a:prstGeom>
          <a:ln w="25400">
            <a:solidFill>
              <a:srgbClr val="ED7D31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114800" y="2697480"/>
            <a:ext cx="4572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ED7D31"/>
                </a:solidFill>
                <a:latin typeface="微软雅黑"/>
                <a:ea typeface="微软雅黑"/>
              </a:rPr>
              <a:t>落地自动上锁 → IDLE(任意时刻可被急停拉回)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迁移规则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解锁+推油门&gt;5% → FOLLOW 起飞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松杆 → HOVER:保留当前油门为闭环起点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HOVER 满 3s → 自动缓降(独立计时器)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再推杆 → 从 HOVER 抢回 FOLLOW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落地(油门降到0) → 自动上锁回 IDLE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383280"/>
            <a:ext cx="5486400" cy="2926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操作者视角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姿态杆任何飞行状态都有效(姿态环常开)</a:t>
            </a:r>
          </a:p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2E75B6"/>
                </a:solidFill>
                <a:latin typeface="微软雅黑"/>
                <a:ea typeface="微软雅黑"/>
              </a:rPr>
              <a:t>▸ 唯一时序规则:'松杆3秒必降落'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悬停中打杆平移,az环自动补倾角掉高</a:t>
            </a:r>
          </a:p>
          <a:p>
            <a:pPr algn="l">
              <a:spcAft>
                <a:spcPts val="200"/>
              </a:spcAft>
            </a:pPr>
            <a:r>
              <a:rPr sz="1350" b="0" i="0">
                <a:solidFill>
                  <a:srgbClr val="595959"/>
                </a:solidFill>
                <a:latin typeface="微软雅黑"/>
                <a:ea typeface="微软雅黑"/>
              </a:rPr>
              <a:t>▸ 落地自动 disarm,不会'落地又窜起'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七级安全链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每 5ms 自上而下短路评估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24712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554480"/>
                <a:gridCol w="2286000"/>
                <a:gridCol w="1371600"/>
                <a:gridCol w="52120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优先级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检查项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触发条件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动作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设计考量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急停锁存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emergency 标志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电机立即停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上锁才能清除,防误触恢复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未解锁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!armed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电机停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上电锁:双重防线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2.5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数据有效性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NaN/Inf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立即急停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NaN 比较恒假,会绕过一切保护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姿态超限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|角|&gt;45° 持续200ms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去抖防单帧噪声误杀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失控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1s 无指令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不直接停机(半空断电=摔)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悬停超时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HOVER 满 3s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转缓降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无高度计,限制久悬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姿态丢失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0.5s 无新姿态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急停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防电机冻结在最后占空比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看门狗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IWDG 1s 未喂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芯片复位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任务卡死兜底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49240"/>
            <a:ext cx="1124712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设计原则:失效安全(fail-safe)逐级降级 —— 能缓降不悬停,能悬停不停机,该停机绝不犹豫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三环如何协同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姿态环 vs az环:并联+解耦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az 环(慢环)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积分式调油门 ≤0.4油门/s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063240"/>
            <a:ext cx="5394960" cy="960120"/>
          </a:xfrm>
          <a:prstGeom prst="roundRect">
            <a:avLst>
              <a:gd name="adj" fmla="val 12000"/>
            </a:avLst>
          </a:prstGeom>
          <a:solidFill>
            <a:srgbClr val="FDF0E6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00" b="1" i="0">
                <a:solidFill>
                  <a:srgbClr val="1F3864"/>
                </a:solidFill>
                <a:latin typeface="微软雅黑"/>
                <a:ea typeface="微软雅黑"/>
              </a:rPr>
              <a:t>角度环→角速度环(快环)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595959"/>
                </a:solidFill>
                <a:latin typeface="微软雅黑"/>
                <a:ea typeface="微软雅黑"/>
              </a:rPr>
              <a:t>200Hz,毫秒级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103120"/>
            <a:ext cx="2103120" cy="105156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/>
                <a:ea typeface="微软雅黑"/>
              </a:rPr>
              <a:t>Mixer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共模‖差模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52560" y="2103120"/>
            <a:ext cx="2651760" cy="1051560"/>
          </a:xfrm>
          <a:prstGeom prst="roundRect">
            <a:avLst>
              <a:gd name="adj" fmla="val 12000"/>
            </a:avLst>
          </a:prstGeom>
          <a:solidFill>
            <a:srgbClr val="E2EFDA"/>
          </a:solidFill>
          <a:ln w="1524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595959"/>
                </a:solidFill>
                <a:latin typeface="微软雅黑"/>
                <a:ea typeface="微软雅黑"/>
              </a:rPr>
              <a:t>4×电机</a:t>
            </a:r>
          </a:p>
          <a:p>
            <a:pPr algn="ctr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PWM 4kHz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2194560"/>
            <a:ext cx="3200400" cy="18288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200400" y="2926080"/>
            <a:ext cx="3200400" cy="640080"/>
          </a:xfrm>
          <a:prstGeom prst="line">
            <a:avLst/>
          </a:prstGeom>
          <a:ln w="25400">
            <a:solidFill>
              <a:srgbClr val="ED7D31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503920" y="2624328"/>
            <a:ext cx="548640" cy="0"/>
          </a:xfrm>
          <a:prstGeom prst="line">
            <a:avLst/>
          </a:prstGeom>
          <a:ln w="25400">
            <a:solidFill>
              <a:srgbClr val="2E7D3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212080" y="178308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2E7D32"/>
                </a:solidFill>
                <a:latin typeface="微软雅黑"/>
                <a:ea typeface="微软雅黑"/>
              </a:rPr>
              <a:t>油门T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3657600"/>
            <a:ext cx="1463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ED7D31"/>
                </a:solidFill>
                <a:latin typeface="微软雅黑"/>
                <a:ea typeface="微软雅黑"/>
              </a:rPr>
              <a:t>力矩R/P/Y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72000"/>
            <a:ext cx="11292840" cy="178308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C00000"/>
                </a:solidFill>
                <a:latin typeface="微软雅黑"/>
                <a:ea typeface="微软雅黑"/>
              </a:rPr>
              <a:t>三条真实耦合通路(不能装看不见)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① 倾角→升力损失:倾角θ时垂直升力×cosθ → az环被动补油门(悬停压坡不掉高,有利)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② 电机饱和抢权限:T贴0.85/0.30边界时姿态差动被clamp削掉 → 预留15%余量的原因(待做Airmode式去饱和)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③ 估计误差串扰:az由姿态四元数计算,姿态不准→az不准(二阶小量)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10241280" cy="7315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微软雅黑"/>
                <a:ea typeface="微软雅黑"/>
              </a:rPr>
              <a:t>通信协议设计</a:t>
            </a:r>
            <a:r>
              <a:rPr sz="1400" b="0" i="0">
                <a:solidFill>
                  <a:srgbClr val="BDD7EE"/>
                </a:solidFill>
                <a:latin typeface="微软雅黑"/>
                <a:ea typeface="微软雅黑"/>
              </a:rPr>
              <a:t>   帧五要素 + 逐字节状态机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2840" y="6382512"/>
            <a:ext cx="822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微软雅黑"/>
                <a:ea typeface="微软雅黑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868680"/>
            <a:ext cx="12191695" cy="41148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0xA5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STX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1460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CMD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命令字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2E75B6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LEN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长度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 w="1524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DATA 0~16B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小端 float32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ED7D31"/>
          </a:solidFill>
          <a:ln w="15240">
            <a:solidFill>
              <a:srgbClr val="ED7D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XOR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校验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12680" y="1325880"/>
            <a:ext cx="1691640" cy="86868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524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微软雅黑"/>
                <a:ea typeface="微软雅黑"/>
              </a:rPr>
              <a:t>0x5A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FFFFFF"/>
                </a:solidFill>
                <a:latin typeface="微软雅黑"/>
                <a:ea typeface="微软雅黑"/>
              </a:rPr>
              <a:t>ETX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606040"/>
          <a:ext cx="55778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463040"/>
                <a:gridCol w="329184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CMD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</a:rPr>
                        <a:t>数据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0x01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PING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—(回ACK)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0x20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紧急停机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—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0x24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解锁/上锁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1字节 1/0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0x40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四通道综合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595959"/>
                          </a:solidFill>
                          <a:latin typeface="微软雅黑"/>
                          <a:ea typeface="微软雅黑"/>
                        </a:rPr>
                        <a:t>4×float: T/roll/pitch/yaw_rate</a:t>
                      </a:r>
                    </a:p>
                  </a:txBody>
                  <a:tcPr marL="50800" marR="50800" marT="12700" marB="12700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492240" y="2606040"/>
            <a:ext cx="5303520" cy="2743200"/>
          </a:xfrm>
          <a:prstGeom prst="roundRect">
            <a:avLst>
              <a:gd name="adj" fmla="val 12000"/>
            </a:avLst>
          </a:prstGeom>
          <a:solidFill>
            <a:srgbClr val="F2F4F8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450" b="1" i="0">
                <a:solidFill>
                  <a:srgbClr val="1F3864"/>
                </a:solidFill>
                <a:latin typeface="微软雅黑"/>
                <a:ea typeface="微软雅黑"/>
              </a:rPr>
              <a:t>解析器设计(中断安全)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ISR 只做:收字节→入队(不解析)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Comm 任务逐字节喂状态机:</a:t>
            </a:r>
          </a:p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75B6"/>
                </a:solidFill>
                <a:latin typeface="微软雅黑"/>
                <a:ea typeface="微软雅黑"/>
              </a:rPr>
              <a:t>   IDLE→CMD→LEN→DATA→CHK→ETX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校验=XOR(CMD,LEN,DATA),ETX独立校验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非法长度/校验失败 → 整帧丢弃重同步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595959"/>
                </a:solidFill>
                <a:latin typeface="微软雅黑"/>
                <a:ea typeface="微软雅黑"/>
              </a:rPr>
              <a:t>▸ SETPOINT 带范围与 isfinite 校验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937760"/>
            <a:ext cx="5577840" cy="1371600"/>
          </a:xfrm>
          <a:prstGeom prst="roundRect">
            <a:avLst>
              <a:gd name="adj" fmla="val 12000"/>
            </a:avLst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8100" rIns="38100" tIns="25400" bIns="25400"/>
          <a:lstStyle/>
          <a:p>
            <a:pPr algn="l">
              <a:spcAft>
                <a:spcPts val="200"/>
              </a:spcAft>
            </a:pPr>
            <a:r>
              <a:rPr sz="1350" b="1" i="0">
                <a:solidFill>
                  <a:srgbClr val="1F3864"/>
                </a:solidFill>
                <a:latin typeface="微软雅黑"/>
                <a:ea typeface="微软雅黑"/>
              </a:rPr>
              <a:t>与 RK3568 项目协议对比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那边:文本+换行分帧;这边:二进制+定界+校验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595959"/>
                </a:solidFill>
                <a:latin typeface="微软雅黑"/>
                <a:ea typeface="微软雅黑"/>
              </a:rPr>
              <a:t>→ 资源与可靠性要求不同,选型不同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BDD7EE"/>
                </a:solidFill>
                <a:latin typeface="微软雅黑"/>
                <a:ea typeface="微软雅黑"/>
              </a:rPr>
              <a:t>IMU · 姿态解算 · 控制律 · 系统实现 —— 每一块都可以往深了聊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33272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</a:rPr>
              <a:t>谢谢聆听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8EAADB"/>
                </a:solidFill>
                <a:latin typeface="微软雅黑"/>
                <a:ea typeface="微软雅黑"/>
              </a:rPr>
              <a:t>代码: github.com/xiexiaoan147-cyber/STM32F4_Drone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