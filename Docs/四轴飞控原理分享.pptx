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开场定调:今天从'机身到底受什么力'讲起,一路讲到姿态解算和控制——每一层都回答'为什么'。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一切从单电机开始:它给机身两个作用——沿机身轴的推力+反着桨转向的反扭矩。平方律和'交替桨向'两点是后面混控与yaw控制的物理基础。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本页是全场地基:左边四个公式+两条方程就是四轴全部动力学;右图讲欠驱动——想平移只能倾斜,所以'控制姿态=间接控制水平运动'。底部级联图告诉我们项目实现的姿态环在整条链的哪一段。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把①②页的公式画成图:左边悬停时自平衡;右边三行分别对应三个力矩——注意 roll/pitch 靠'位置差动',yaw 靠'桨向差动'(反扭矩),这就是混控矩阵的物理来源。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回顾路线:刚讲完飞机为什么能飞,接下来讲'我们怎么知道它现在的姿态'(IMU+解算),最后讲'怎么控制'(PID)。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图解:静止时质量块只是上下振动;一旋转就被科氏力推向一侧,梳齿电容变化——测偏移即测角速度。三个特点层层递进,引出加速度计。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电梯类比讲比力:超重失重时秤变了,重力没变——加速度计就是秤。静止时输出即重力方向,所以能当倾角计;一动就脏。两个结论为融合做铺垫。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这张图是姿态解算的动机:绿色加计低频可信,蓝色陀螺高频可信。互补滤波=各干各擅长的频段。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姿态=两个坐标系之间的旋转,这句话立住了后面全通。万向节锁就讲'两次旋转撞到同一根轴'。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降低恐惧:四元数工程用法三招。左图轴角直觉,右盒是项目真正在跑的全部公式。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全景图:主链路是上面一行;加计从左进来,经叉积得误差,PI后'拧'陀螺——注意不是直接改q,而是修正角速度再积分,这是Mahony优雅之处。比喻:陀螺反应快但越走越歪,加计慢半拍但永远知道下方在哪。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四步循环讲,每步配一句人话。第②步是灵魂,下一页专门拆。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回答'叉积凭什么能当误差':几何上它同时给了'歪了多少'和'往哪边转回去'。右下是升华:Ki 项本质是在线零偏估计器——这就是为什么 Mahony 对校准残差不敏感。yaw 不可观也要交代。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公式到代码的最后一公里:四行标量式与仓库 mahony.c 逐行对应;'旧q'是经典错;归一化和asin钳位都是防 NaN 的防线。三个翻车点全是我们真实踩过的。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需求反推传感器:想要定高→没有高度计→退而求其次用加速度。坦诚局限。转置矩阵坑在此重提,呼应'对着标准式逐项核对'。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三个实操问题:门限、调参判据、滤波取舍——看完原理后真正上手会问的三件事。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原理讲完落回工程:四任务流水线对应前面四层。重点讲队列解耦和I2C单一拥有者。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'现在/过去/未来'讲本质;副作用列是工程取舍;右下两个细节衔接下页实现。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框图从左到右走一遍:目标与反馈相减得误差,三条支路各干各的,合成 u 去推动电机。强调负反馈的'自动收敛'本质,以及每个方块在本机上的实物对应。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三张图是自控课的看家图:同一条二阶欠阻尼曲线,改变阻尼/增益/积分就得到不同形态。讲法:先指目标虚线,再讲蓝色缺什么、红色多什么、绿色为什么合适。底部读图整定与上一页口诀闭环。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呼应动力学页:角速度环的输出就是那三轴力矩。三个工程细节都是真实修过的坑。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这页矩阵就是受力分析页四个公式的直接翻译:差动出力矩、共模出推力。共模/差模正交性呼应三环协同页。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状态机一句话:油门归属权切换,姿态永远归PID。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每条保护都有'为什么':NaN绕过一切if、单帧噪声不能停机、半空断电比缓降危险。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把开场受力分析闭环:姿态环管'推力指哪',az环管'推力多大',混控的正交性让两者近似不打架。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协议五要素是通用方法论;状态机解析可展开讲重同步。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收尾:主动开放提问方向——叉积误差的几何、四元数积分、串级整定都可以聊。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微软雅黑"/>
                <a:ea typeface="微软雅黑"/>
              </a:rPr>
              <a:t>四轴飞控:把原理讲透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 i="0">
                <a:solidFill>
                  <a:srgbClr val="BDD7EE"/>
                </a:solidFill>
                <a:latin typeface="微软雅黑"/>
                <a:ea typeface="微软雅黑"/>
              </a:rPr>
              <a:t>从机身受力到姿态解算:飞机为什么能这么飞,代码为什么这么写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33272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</a:rPr>
              <a:t>一次偏原理的技术分享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8EAADB"/>
                </a:solidFill>
                <a:latin typeface="微软雅黑"/>
                <a:ea typeface="微软雅黑"/>
              </a:rPr>
              <a:t>主讲:____ · 2026-08 · 配套代码 github.com/xiexiaoan147-cyber/STM32F4_Drone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机身受力与扭矩①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每个电机给机身两个作用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120640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53312"/>
            <a:ext cx="4389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俯视一个电机:桨盘 + 旋转</a:t>
            </a:r>
          </a:p>
        </p:txBody>
      </p:sp>
      <p:sp>
        <p:nvSpPr>
          <p:cNvPr id="8" name="Oval 7"/>
          <p:cNvSpPr/>
          <p:nvPr/>
        </p:nvSpPr>
        <p:spPr>
          <a:xfrm>
            <a:off x="2103120" y="2057400"/>
            <a:ext cx="1920240" cy="1920240"/>
          </a:xfrm>
          <a:prstGeom prst="ellipse">
            <a:avLst/>
          </a:prstGeom>
          <a:noFill/>
          <a:ln w="190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lar Arrow 8"/>
          <p:cNvSpPr/>
          <p:nvPr/>
        </p:nvSpPr>
        <p:spPr>
          <a:xfrm>
            <a:off x="2651760" y="2606039"/>
            <a:ext cx="822960" cy="822960"/>
          </a:xfrm>
          <a:prstGeom prst="circular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7288" y="2240279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桨:顺时针</a:t>
            </a:r>
          </a:p>
        </p:txBody>
      </p:sp>
      <p:sp>
        <p:nvSpPr>
          <p:cNvPr id="11" name="Oval 10"/>
          <p:cNvSpPr/>
          <p:nvPr/>
        </p:nvSpPr>
        <p:spPr>
          <a:xfrm>
            <a:off x="2971800" y="2926079"/>
            <a:ext cx="182880" cy="182880"/>
          </a:xfrm>
          <a:prstGeom prst="ellipse">
            <a:avLst/>
          </a:prstGeom>
          <a:noFill/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008376" y="2962656"/>
            <a:ext cx="109728" cy="109728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008376" y="2962656"/>
            <a:ext cx="109728" cy="109728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72968" y="2871215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推力 T:沿机体 z 向上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91640" y="3840480"/>
            <a:ext cx="1051560" cy="0"/>
          </a:xfrm>
          <a:prstGeom prst="line">
            <a:avLst/>
          </a:prstGeom>
          <a:ln w="2794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ircular Arrow 15"/>
          <p:cNvSpPr/>
          <p:nvPr/>
        </p:nvSpPr>
        <p:spPr>
          <a:xfrm>
            <a:off x="1097280" y="3273552"/>
            <a:ext cx="502920" cy="502920"/>
          </a:xfrm>
          <a:prstGeom prst="circular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069079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C00000"/>
                </a:solidFill>
                <a:latin typeface="微软雅黑"/>
                <a:ea typeface="微软雅黑"/>
              </a:rPr>
              <a:t>反扭矩 M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C00000"/>
                </a:solidFill>
                <a:latin typeface="微软雅黑"/>
                <a:ea typeface="微软雅黑"/>
              </a:rPr>
              <a:t>与桨转向相反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977639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推力 T = kt·ω²      反扭矩 M = km·ω²  (都随转速平方变)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1280160"/>
            <a:ext cx="5852160" cy="3200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650" b="1" i="0">
                <a:solidFill>
                  <a:srgbClr val="1F3864"/>
                </a:solidFill>
                <a:latin typeface="微软雅黑"/>
                <a:ea typeface="微软雅黑"/>
              </a:rPr>
              <a:t>牛顿第三定律的礼物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电机拧着桨转 → 桨拧着空气转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空气反作用:给桨一个向上的升力,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C00000"/>
                </a:solidFill>
                <a:latin typeface="微软雅黑"/>
                <a:ea typeface="微软雅黑"/>
              </a:rPr>
              <a:t>   同时给机身一个反向扭矩</a:t>
            </a:r>
          </a:p>
          <a:p>
            <a:pPr algn="l">
              <a:spcAft>
                <a:spcPts val="4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推力方向永远沿机体 z 轴(垂直机身)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E75B6"/>
                </a:solidFill>
                <a:latin typeface="微软雅黑"/>
                <a:ea typeface="微软雅黑"/>
              </a:rPr>
              <a:t>▸ 转速 ×2 → 推力 ×4 (平方律!)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→ 油门与推力不是线性关系,调参时心里有数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709160"/>
            <a:ext cx="11292840" cy="16002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X 布置:对角同桨向,相邻反桨向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M1 前右(顺) · M2 前左(逆) · M3 后左(顺) · M4 后右(逆)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为什么交替?四台全同向 → 反扭矩抵消不掉,机身会一直自旋;交替后正常飞行反扭矩互相抵消,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想要偏航时让'逆桨侧'多转 → 反扭矩出现净差 → 机头转动 (这是 yaw 的唯一来源)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机身受力与扭矩②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四个输入怎么变成运动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394960" cy="23774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四个电机 = 四个转速 = 四个控制量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总推力  T = T1+T2+T3+T4   (四桨同增减 → 共模)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滚转力矩 τroll  = (左−右)·力臂   (左右差动)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俯仰力矩 τpitch = (前−后)·力臂   (前后差动)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偏航力矩 τyaw   = (逆−顺)·反扭矩差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49039"/>
            <a:ext cx="5394960" cy="246888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两条动力学方程(全部物理就这两行)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平移: m·a = T·R(q)·ẑ机身 + mg  (牛二)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转动: I·ω̇ = τ  (角动量定理)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力矩改变的是'姿态',姿态改变的是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C00000"/>
                </a:solidFill>
                <a:latin typeface="微软雅黑"/>
                <a:ea typeface="微软雅黑"/>
              </a:rPr>
              <a:t>   '推力方向',推力方向才改变'运动'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623560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261872"/>
            <a:ext cx="4572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侧视:想往前飞,只能先低头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19" y="3456432"/>
            <a:ext cx="1005840" cy="219456"/>
          </a:xfrm>
          <a:prstGeom prst="rect">
            <a:avLst/>
          </a:prstGeom>
          <a:solidFill>
            <a:srgbClr val="595959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7863840" y="2710744"/>
            <a:ext cx="1921295" cy="855416"/>
          </a:xfrm>
          <a:prstGeom prst="line">
            <a:avLst/>
          </a:prstGeom>
          <a:ln w="2794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9638831" y="2564440"/>
            <a:ext cx="292608" cy="29260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9785135" y="2152864"/>
            <a:ext cx="1253019" cy="55788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608095" y="1476304"/>
            <a:ext cx="10972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E7D32"/>
                </a:solidFill>
                <a:latin typeface="微软雅黑"/>
                <a:ea typeface="微软雅黑"/>
              </a:rPr>
              <a:t>T 总推力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11038154" y="1147024"/>
            <a:ext cx="0" cy="1005840"/>
          </a:xfrm>
          <a:prstGeom prst="line">
            <a:avLst/>
          </a:prstGeom>
          <a:ln w="22860">
            <a:solidFill>
              <a:srgbClr val="2E7D3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038154" y="2152864"/>
            <a:ext cx="1051560" cy="0"/>
          </a:xfrm>
          <a:prstGeom prst="line">
            <a:avLst/>
          </a:prstGeom>
          <a:ln w="2794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849434" y="552664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T·cosθ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托住重力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5314" y="2262592"/>
            <a:ext cx="1554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C00000"/>
                </a:solidFill>
                <a:latin typeface="微软雅黑"/>
                <a:ea typeface="微软雅黑"/>
              </a:rPr>
              <a:t>T·sinθ → 前飞!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863840" y="3840480"/>
            <a:ext cx="0" cy="685800"/>
          </a:xfrm>
          <a:prstGeom prst="line">
            <a:avLst/>
          </a:prstGeom>
          <a:ln w="2794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973567" y="4069080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595959"/>
                </a:solidFill>
                <a:latin typeface="微软雅黑"/>
                <a:ea typeface="微软雅黑"/>
              </a:rPr>
              <a:t>mg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794760"/>
            <a:ext cx="53949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四轴没有水平推进器 → 平移的唯一办法:倾斜,让推力斜着指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617720"/>
            <a:ext cx="5623560" cy="16916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控制级联(本项目的位置)</a:t>
            </a:r>
          </a:p>
          <a:p>
            <a:pPr algn="l">
              <a:spcAft>
                <a:spcPts val="200"/>
              </a:spcAft>
            </a:pPr>
            <a:r>
              <a:rPr sz="3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想去哪(位置) → 需要加速度 → 需要姿态角+推力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→ 需要三轴力矩 → 电机差动   ←项目实现从这里往下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ED7D31"/>
                </a:solidFill>
                <a:latin typeface="微软雅黑"/>
                <a:ea typeface="微软雅黑"/>
              </a:rPr>
              <a:t>最上层'位置'交给人的手/未来的GPS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机身受力与扭矩③ X 型布局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俯视:四个电机怎么分工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212080" cy="502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4846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悬停基准:四桨等速 → 力矩自平衡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69175" y="2863535"/>
            <a:ext cx="1679569" cy="1679569"/>
          </a:xfrm>
          <a:prstGeom prst="line">
            <a:avLst/>
          </a:prstGeom>
          <a:ln w="3810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269175" y="2863535"/>
            <a:ext cx="1679569" cy="1679569"/>
          </a:xfrm>
          <a:prstGeom prst="line">
            <a:avLst/>
          </a:prstGeom>
          <a:ln w="3810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3959351" y="2505456"/>
            <a:ext cx="347472" cy="347472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M1</a:t>
            </a:r>
          </a:p>
        </p:txBody>
      </p:sp>
      <p:sp>
        <p:nvSpPr>
          <p:cNvPr id="11" name="Oval 10"/>
          <p:cNvSpPr/>
          <p:nvPr/>
        </p:nvSpPr>
        <p:spPr>
          <a:xfrm>
            <a:off x="4425696" y="2203703"/>
            <a:ext cx="182880" cy="182880"/>
          </a:xfrm>
          <a:prstGeom prst="ellipse">
            <a:avLst/>
          </a:prstGeom>
          <a:noFill/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462272" y="2240279"/>
            <a:ext cx="109727" cy="109729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462272" y="2240279"/>
            <a:ext cx="109727" cy="109729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626864" y="2148839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3983" y="2221991"/>
            <a:ext cx="10515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C00000"/>
                </a:solidFill>
                <a:latin typeface="微软雅黑"/>
                <a:ea typeface="微软雅黑"/>
              </a:rPr>
              <a:t>顺桨 CW↻</a:t>
            </a:r>
          </a:p>
        </p:txBody>
      </p:sp>
      <p:sp>
        <p:nvSpPr>
          <p:cNvPr id="16" name="Oval 15"/>
          <p:cNvSpPr/>
          <p:nvPr/>
        </p:nvSpPr>
        <p:spPr>
          <a:xfrm>
            <a:off x="1911095" y="2505456"/>
            <a:ext cx="347472" cy="347472"/>
          </a:xfrm>
          <a:prstGeom prst="ellipse">
            <a:avLst/>
          </a:prstGeom>
          <a:solidFill>
            <a:srgbClr val="2E75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M2</a:t>
            </a:r>
          </a:p>
        </p:txBody>
      </p:sp>
      <p:sp>
        <p:nvSpPr>
          <p:cNvPr id="17" name="Oval 16"/>
          <p:cNvSpPr/>
          <p:nvPr/>
        </p:nvSpPr>
        <p:spPr>
          <a:xfrm>
            <a:off x="1609343" y="2203703"/>
            <a:ext cx="182880" cy="182880"/>
          </a:xfrm>
          <a:prstGeom prst="ellipse">
            <a:avLst/>
          </a:prstGeom>
          <a:noFill/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645919" y="2240279"/>
            <a:ext cx="109729" cy="109729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645919" y="2240279"/>
            <a:ext cx="109729" cy="109729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10512" y="2148839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1" y="2221991"/>
            <a:ext cx="10515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E75B6"/>
                </a:solidFill>
                <a:latin typeface="微软雅黑"/>
                <a:ea typeface="微软雅黑"/>
              </a:rPr>
              <a:t>逆桨 CCW↺</a:t>
            </a:r>
          </a:p>
        </p:txBody>
      </p:sp>
      <p:sp>
        <p:nvSpPr>
          <p:cNvPr id="22" name="Oval 21"/>
          <p:cNvSpPr/>
          <p:nvPr/>
        </p:nvSpPr>
        <p:spPr>
          <a:xfrm>
            <a:off x="1911095" y="4553712"/>
            <a:ext cx="347472" cy="347472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M3</a:t>
            </a:r>
          </a:p>
        </p:txBody>
      </p:sp>
      <p:sp>
        <p:nvSpPr>
          <p:cNvPr id="23" name="Oval 22"/>
          <p:cNvSpPr/>
          <p:nvPr/>
        </p:nvSpPr>
        <p:spPr>
          <a:xfrm>
            <a:off x="1609343" y="5020056"/>
            <a:ext cx="182880" cy="182880"/>
          </a:xfrm>
          <a:prstGeom prst="ellipse">
            <a:avLst/>
          </a:prstGeom>
          <a:noFill/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645919" y="5056632"/>
            <a:ext cx="109729" cy="109727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645919" y="5056632"/>
            <a:ext cx="109729" cy="109727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10512" y="4965192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1" y="4270248"/>
            <a:ext cx="10515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C00000"/>
                </a:solidFill>
                <a:latin typeface="微软雅黑"/>
                <a:ea typeface="微软雅黑"/>
              </a:rPr>
              <a:t>顺桨 CW↻</a:t>
            </a:r>
          </a:p>
        </p:txBody>
      </p:sp>
      <p:sp>
        <p:nvSpPr>
          <p:cNvPr id="28" name="Oval 27"/>
          <p:cNvSpPr/>
          <p:nvPr/>
        </p:nvSpPr>
        <p:spPr>
          <a:xfrm>
            <a:off x="3959351" y="4553712"/>
            <a:ext cx="347472" cy="347472"/>
          </a:xfrm>
          <a:prstGeom prst="ellipse">
            <a:avLst/>
          </a:prstGeom>
          <a:solidFill>
            <a:srgbClr val="2E75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M4</a:t>
            </a:r>
          </a:p>
        </p:txBody>
      </p:sp>
      <p:sp>
        <p:nvSpPr>
          <p:cNvPr id="29" name="Oval 28"/>
          <p:cNvSpPr/>
          <p:nvPr/>
        </p:nvSpPr>
        <p:spPr>
          <a:xfrm>
            <a:off x="4425696" y="5020056"/>
            <a:ext cx="182880" cy="182880"/>
          </a:xfrm>
          <a:prstGeom prst="ellipse">
            <a:avLst/>
          </a:prstGeom>
          <a:noFill/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462272" y="5056632"/>
            <a:ext cx="109727" cy="109727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462272" y="5056632"/>
            <a:ext cx="109727" cy="109727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626864" y="4965192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43983" y="4270248"/>
            <a:ext cx="10515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E75B6"/>
                </a:solidFill>
                <a:latin typeface="微软雅黑"/>
                <a:ea typeface="微软雅黑"/>
              </a:rPr>
              <a:t>逆桨 CCW↺</a:t>
            </a:r>
          </a:p>
        </p:txBody>
      </p:sp>
      <p:sp>
        <p:nvSpPr>
          <p:cNvPr id="34" name="Oval 33"/>
          <p:cNvSpPr/>
          <p:nvPr/>
        </p:nvSpPr>
        <p:spPr>
          <a:xfrm>
            <a:off x="2990088" y="3584448"/>
            <a:ext cx="237744" cy="237744"/>
          </a:xfrm>
          <a:prstGeom prst="ellipse">
            <a:avLst/>
          </a:prstGeom>
          <a:noFill/>
          <a:ln w="2286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3044952" y="3639312"/>
            <a:ext cx="128016" cy="128016"/>
          </a:xfrm>
          <a:prstGeom prst="line">
            <a:avLst/>
          </a:prstGeom>
          <a:ln w="20320">
            <a:solidFill>
              <a:srgbClr val="1F386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044952" y="3639312"/>
            <a:ext cx="128016" cy="128016"/>
          </a:xfrm>
          <a:prstGeom prst="line">
            <a:avLst/>
          </a:prstGeom>
          <a:ln w="20320">
            <a:solidFill>
              <a:srgbClr val="1F386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246120" y="3749039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F3864"/>
                </a:solidFill>
                <a:latin typeface="微软雅黑"/>
                <a:ea typeface="微软雅黑"/>
              </a:rPr>
              <a:t>重心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074920"/>
            <a:ext cx="493776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95959"/>
                </a:solidFill>
                <a:latin typeface="微软雅黑"/>
                <a:ea typeface="微软雅黑"/>
              </a:rPr>
              <a:t>⊙ = 推力(出屏朝上)   ↻↺ = 桨转向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顺桨(M1/M3)反扭矩逆时针,逆桨(M2/M4)反扭矩顺时针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D32"/>
                </a:solidFill>
                <a:latin typeface="微软雅黑"/>
                <a:ea typeface="微软雅黑"/>
              </a:rPr>
              <a:t>等速时:总推力=mg 且 两两反向的反扭矩抵消 → 不转不歪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1298448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想动哪根轴,就让对应一侧差动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1691640"/>
            <a:ext cx="6035040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1746504"/>
            <a:ext cx="3291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+ Roll(右滚):左侧快右侧慢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912864" y="2203703"/>
            <a:ext cx="713232" cy="713233"/>
          </a:xfrm>
          <a:prstGeom prst="line">
            <a:avLst/>
          </a:prstGeom>
          <a:ln w="2540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912864" y="2203703"/>
            <a:ext cx="713232" cy="713233"/>
          </a:xfrm>
          <a:prstGeom prst="line">
            <a:avLst/>
          </a:prstGeom>
          <a:ln w="2540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7653528" y="1993391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81544" y="1645919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↓</a:t>
            </a:r>
          </a:p>
        </p:txBody>
      </p:sp>
      <p:sp>
        <p:nvSpPr>
          <p:cNvPr id="46" name="Oval 45"/>
          <p:cNvSpPr/>
          <p:nvPr/>
        </p:nvSpPr>
        <p:spPr>
          <a:xfrm>
            <a:off x="6702552" y="1993391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74536" y="1645919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↑</a:t>
            </a:r>
          </a:p>
        </p:txBody>
      </p:sp>
      <p:sp>
        <p:nvSpPr>
          <p:cNvPr id="48" name="Oval 47"/>
          <p:cNvSpPr/>
          <p:nvPr/>
        </p:nvSpPr>
        <p:spPr>
          <a:xfrm>
            <a:off x="6702552" y="2944368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74536" y="2852928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↑</a:t>
            </a:r>
          </a:p>
        </p:txBody>
      </p:sp>
      <p:sp>
        <p:nvSpPr>
          <p:cNvPr id="50" name="Oval 49"/>
          <p:cNvSpPr/>
          <p:nvPr/>
        </p:nvSpPr>
        <p:spPr>
          <a:xfrm>
            <a:off x="7653528" y="2944368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81544" y="2852928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92440" y="2057400"/>
            <a:ext cx="237744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D32"/>
                </a:solidFill>
                <a:latin typeface="微软雅黑"/>
                <a:ea typeface="微软雅黑"/>
              </a:rPr>
              <a:t>加速↑: M2·M3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</a:rPr>
              <a:t>减速↓: M1·M4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61320" y="21945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机身右倾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→向右平移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0" y="3337560"/>
            <a:ext cx="6035040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92240" y="3392424"/>
            <a:ext cx="3291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+ Pitch(抬头):后侧快前侧慢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912864" y="3849624"/>
            <a:ext cx="713232" cy="713231"/>
          </a:xfrm>
          <a:prstGeom prst="line">
            <a:avLst/>
          </a:prstGeom>
          <a:ln w="2540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6912864" y="3849624"/>
            <a:ext cx="713232" cy="713231"/>
          </a:xfrm>
          <a:prstGeom prst="line">
            <a:avLst/>
          </a:prstGeom>
          <a:ln w="2540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7653528" y="3639312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81544" y="3291840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↓</a:t>
            </a:r>
          </a:p>
        </p:txBody>
      </p:sp>
      <p:sp>
        <p:nvSpPr>
          <p:cNvPr id="60" name="Oval 59"/>
          <p:cNvSpPr/>
          <p:nvPr/>
        </p:nvSpPr>
        <p:spPr>
          <a:xfrm>
            <a:off x="6702552" y="3639312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74536" y="3291840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↓</a:t>
            </a:r>
          </a:p>
        </p:txBody>
      </p:sp>
      <p:sp>
        <p:nvSpPr>
          <p:cNvPr id="62" name="Oval 61"/>
          <p:cNvSpPr/>
          <p:nvPr/>
        </p:nvSpPr>
        <p:spPr>
          <a:xfrm>
            <a:off x="6702552" y="4590288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74536" y="4498847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↑</a:t>
            </a:r>
          </a:p>
        </p:txBody>
      </p:sp>
      <p:sp>
        <p:nvSpPr>
          <p:cNvPr id="64" name="Oval 63"/>
          <p:cNvSpPr/>
          <p:nvPr/>
        </p:nvSpPr>
        <p:spPr>
          <a:xfrm>
            <a:off x="7653528" y="4590288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81544" y="4498847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92440" y="3703320"/>
            <a:ext cx="237744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D32"/>
                </a:solidFill>
                <a:latin typeface="微软雅黑"/>
                <a:ea typeface="微软雅黑"/>
              </a:rPr>
              <a:t>加速↑: M3·M4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</a:rPr>
              <a:t>减速↓: M1·M2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61320" y="384048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机头上抬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→向前飞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00800" y="4983480"/>
            <a:ext cx="6035040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92240" y="5038344"/>
            <a:ext cx="3291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+ Yaw(右转):逆桨快顺桨慢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912864" y="5495544"/>
            <a:ext cx="713232" cy="713232"/>
          </a:xfrm>
          <a:prstGeom prst="line">
            <a:avLst/>
          </a:prstGeom>
          <a:ln w="2540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6912864" y="5495544"/>
            <a:ext cx="713232" cy="713232"/>
          </a:xfrm>
          <a:prstGeom prst="line">
            <a:avLst/>
          </a:prstGeom>
          <a:ln w="2540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7653528" y="5285232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781544" y="4937760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↓</a:t>
            </a:r>
          </a:p>
        </p:txBody>
      </p:sp>
      <p:sp>
        <p:nvSpPr>
          <p:cNvPr id="74" name="Oval 73"/>
          <p:cNvSpPr/>
          <p:nvPr/>
        </p:nvSpPr>
        <p:spPr>
          <a:xfrm>
            <a:off x="6702552" y="5285232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74536" y="4937760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↑</a:t>
            </a:r>
          </a:p>
        </p:txBody>
      </p:sp>
      <p:sp>
        <p:nvSpPr>
          <p:cNvPr id="76" name="Oval 75"/>
          <p:cNvSpPr/>
          <p:nvPr/>
        </p:nvSpPr>
        <p:spPr>
          <a:xfrm>
            <a:off x="6702552" y="6236208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74536" y="6144768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↓</a:t>
            </a:r>
          </a:p>
        </p:txBody>
      </p:sp>
      <p:sp>
        <p:nvSpPr>
          <p:cNvPr id="78" name="Oval 77"/>
          <p:cNvSpPr/>
          <p:nvPr/>
        </p:nvSpPr>
        <p:spPr>
          <a:xfrm>
            <a:off x="7653528" y="6236208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781544" y="6144768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↑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92440" y="5349240"/>
            <a:ext cx="237744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D32"/>
                </a:solidFill>
                <a:latin typeface="微软雅黑"/>
                <a:ea typeface="微软雅黑"/>
              </a:rPr>
              <a:t>加速↑: M2·M4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</a:rPr>
              <a:t>减速↓: M1·M3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561320" y="5486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反扭矩净差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→机头右转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分享脉络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63040" y="1737360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ED7D31"/>
                </a:solidFill>
                <a:latin typeface="微软雅黑"/>
                <a:ea typeface="微软雅黑"/>
              </a:rPr>
              <a:t>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1737360"/>
            <a:ext cx="822960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3864"/>
                </a:solidFill>
                <a:latin typeface="微软雅黑"/>
                <a:ea typeface="微软雅黑"/>
              </a:rPr>
              <a:t>飞行力学   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受力·扭矩·为什么控制姿态就是控制运动 (刚讲完)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761488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ED7D31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761488"/>
            <a:ext cx="822960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3864"/>
                </a:solidFill>
                <a:latin typeface="微软雅黑"/>
                <a:ea typeface="微软雅黑"/>
              </a:rPr>
              <a:t>IMU 工作原理   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陀螺仪 · 加速度计 · 为什么必须融合 (图解)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3785616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ED7D31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3785616"/>
            <a:ext cx="822960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3864"/>
                </a:solidFill>
                <a:latin typeface="微软雅黑"/>
                <a:ea typeface="微软雅黑"/>
              </a:rPr>
              <a:t>姿态解算   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四元数 · Mahony 框架·误差本质·数值细节 (重点)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4809744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ED7D31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4809744"/>
            <a:ext cx="822960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3864"/>
                </a:solidFill>
                <a:latin typeface="微软雅黑"/>
                <a:ea typeface="微软雅黑"/>
              </a:rPr>
              <a:t>控制与实现   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PID · 串级 · 混控 · 状态机 · 安全链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IMU 原理① 陀螺仪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旋转让振动的东西受到侧向力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274320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89888"/>
            <a:ext cx="2560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① 静止:质量块被驱动上下振动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880360"/>
            <a:ext cx="667512" cy="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258568" y="2880360"/>
            <a:ext cx="667512" cy="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22960" y="2633472"/>
            <a:ext cx="0" cy="164591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926080" y="2633472"/>
            <a:ext cx="0" cy="164591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22960" y="2798064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26080" y="2798064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22960" y="2962656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926080" y="2962656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490472" y="2496312"/>
            <a:ext cx="768096" cy="768096"/>
          </a:xfrm>
          <a:prstGeom prst="rect">
            <a:avLst/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ED7D31"/>
                </a:solidFill>
                <a:latin typeface="微软雅黑"/>
                <a:ea typeface="微软雅黑"/>
              </a:rPr>
              <a:t>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55848"/>
            <a:ext cx="2560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质量块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874519" y="1709928"/>
            <a:ext cx="0" cy="603504"/>
          </a:xfrm>
          <a:prstGeom prst="line">
            <a:avLst/>
          </a:prstGeom>
          <a:ln w="22860">
            <a:solidFill>
              <a:srgbClr val="2E75B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47672" y="1801368"/>
            <a:ext cx="914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v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微软雅黑"/>
                <a:ea typeface="微软雅黑"/>
              </a:rPr>
              <a:t>振动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1325880"/>
            <a:ext cx="274320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440" y="1389888"/>
            <a:ext cx="2560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② 旋转:振动+旋转 → 侧向科氏力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749039" y="2880360"/>
            <a:ext cx="941833" cy="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458968" y="2880360"/>
            <a:ext cx="393192" cy="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49039" y="2633472"/>
            <a:ext cx="0" cy="164591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852160" y="2633472"/>
            <a:ext cx="0" cy="164591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749039" y="2798064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852160" y="2798064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749039" y="2962656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852160" y="2962656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4690872" y="2496312"/>
            <a:ext cx="768096" cy="768096"/>
          </a:xfrm>
          <a:prstGeom prst="rect">
            <a:avLst/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ED7D31"/>
                </a:solidFill>
                <a:latin typeface="微软雅黑"/>
                <a:ea typeface="微软雅黑"/>
              </a:rPr>
              <a:t>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0440" y="3355848"/>
            <a:ext cx="2560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质量块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800600" y="1709928"/>
            <a:ext cx="0" cy="603504"/>
          </a:xfrm>
          <a:prstGeom prst="line">
            <a:avLst/>
          </a:prstGeom>
          <a:ln w="22860">
            <a:solidFill>
              <a:srgbClr val="2E75B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873752" y="1801368"/>
            <a:ext cx="914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v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微软雅黑"/>
                <a:ea typeface="微软雅黑"/>
              </a:rPr>
              <a:t>振动</a:t>
            </a:r>
          </a:p>
        </p:txBody>
      </p:sp>
      <p:sp>
        <p:nvSpPr>
          <p:cNvPr id="34" name="Circular Arrow 33"/>
          <p:cNvSpPr/>
          <p:nvPr/>
        </p:nvSpPr>
        <p:spPr>
          <a:xfrm>
            <a:off x="5440680" y="1481328"/>
            <a:ext cx="502920" cy="502920"/>
          </a:xfrm>
          <a:prstGeom prst="circular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57800" y="2011680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ω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532120" y="2057400"/>
            <a:ext cx="0" cy="685800"/>
          </a:xfrm>
          <a:prstGeom prst="line">
            <a:avLst/>
          </a:prstGeom>
          <a:ln w="317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641848" y="2103120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F 科氏力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C00000"/>
                </a:solidFill>
                <a:latin typeface="微软雅黑"/>
                <a:ea typeface="微软雅黑"/>
              </a:rPr>
              <a:t>侧向推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617720"/>
            <a:ext cx="5669280" cy="16916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输出 = 角速度 ω (rad/s)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电容极板检测质量块位移 → ∝ 角速度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▸ F = −2m (ω × v):v 已知,测 F 反解 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1280160"/>
            <a:ext cx="5257800" cy="5029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</a:rPr>
              <a:t>三个必须记住的特点</a:t>
            </a:r>
          </a:p>
          <a:p>
            <a:pPr algn="l">
              <a:spcAft>
                <a:spcPts val="4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C00000"/>
                </a:solidFill>
                <a:latin typeface="微软雅黑"/>
                <a:ea typeface="微软雅黑"/>
              </a:rPr>
              <a:t>① 它测角速度,不测角度!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   角度要自己积分:θ = ∫ω·dt</a:t>
            </a:r>
          </a:p>
          <a:p>
            <a:pPr algn="l">
              <a:spcAft>
                <a:spcPts val="4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ED7D31"/>
                </a:solidFill>
                <a:latin typeface="微软雅黑"/>
                <a:ea typeface="微软雅黑"/>
              </a:rPr>
              <a:t>② 有零偏 bias:静止也输出'假角速度'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   每颗不同(1~3°/s),必须上电校准</a:t>
            </a:r>
          </a:p>
          <a:p>
            <a:pPr algn="l">
              <a:spcAft>
                <a:spcPts val="4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ED7D31"/>
                </a:solidFill>
                <a:latin typeface="微软雅黑"/>
                <a:ea typeface="微软雅黑"/>
              </a:rPr>
              <a:t>③ 积分误差随时间累积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   1°/s 没校准 → 姿态每分钟漂 60°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结论:陀螺'快但会漂' → 需要绝对基准纠偏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IMU 原理② 加速度计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先想一个电梯问题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7830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89888"/>
            <a:ext cx="1691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静止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1783080"/>
            <a:ext cx="1005840" cy="1691640"/>
          </a:xfrm>
          <a:prstGeom prst="rect">
            <a:avLst/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61872" y="1920240"/>
            <a:ext cx="256032" cy="256032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16152" y="2231136"/>
            <a:ext cx="347472" cy="685800"/>
          </a:xfrm>
          <a:prstGeom prst="rect">
            <a:avLst/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05840" y="3127248"/>
            <a:ext cx="768096" cy="146304"/>
          </a:xfrm>
          <a:prstGeom prst="rect">
            <a:avLst/>
          </a:prstGeom>
          <a:solidFill>
            <a:srgbClr val="595959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383280"/>
            <a:ext cx="1600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秤 = 1g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1325880"/>
            <a:ext cx="17830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0" y="1389888"/>
            <a:ext cx="1691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向上加速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98648" y="1783080"/>
            <a:ext cx="1005840" cy="1691640"/>
          </a:xfrm>
          <a:prstGeom prst="rect">
            <a:avLst/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73552" y="1920240"/>
            <a:ext cx="256032" cy="256032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27832" y="2231136"/>
            <a:ext cx="347472" cy="685800"/>
          </a:xfrm>
          <a:prstGeom prst="rect">
            <a:avLst/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17520" y="3127248"/>
            <a:ext cx="768096" cy="146304"/>
          </a:xfrm>
          <a:prstGeom prst="rect">
            <a:avLst/>
          </a:prstGeom>
          <a:solidFill>
            <a:srgbClr val="595959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06040" y="3383280"/>
            <a:ext cx="1600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C00000"/>
                </a:solidFill>
                <a:latin typeface="微软雅黑"/>
                <a:ea typeface="微软雅黑"/>
              </a:rPr>
              <a:t>秤 &gt; 1g 超重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4087368" y="1874519"/>
            <a:ext cx="0" cy="640081"/>
          </a:xfrm>
          <a:prstGeom prst="line">
            <a:avLst/>
          </a:prstGeom>
          <a:ln w="2794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977639" y="2542032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00000"/>
                </a:solidFill>
                <a:latin typeface="微软雅黑"/>
                <a:ea typeface="微软雅黑"/>
              </a:rPr>
              <a:t>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1325880"/>
            <a:ext cx="17830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1389888"/>
            <a:ext cx="1691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自由下落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10328" y="1783080"/>
            <a:ext cx="1005840" cy="1691640"/>
          </a:xfrm>
          <a:prstGeom prst="rect">
            <a:avLst/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285232" y="1920240"/>
            <a:ext cx="256032" cy="256032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39512" y="2231136"/>
            <a:ext cx="347472" cy="685800"/>
          </a:xfrm>
          <a:prstGeom prst="rect">
            <a:avLst/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0" y="3127248"/>
            <a:ext cx="768096" cy="146304"/>
          </a:xfrm>
          <a:prstGeom prst="rect">
            <a:avLst/>
          </a:prstGeom>
          <a:solidFill>
            <a:srgbClr val="595959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7720" y="3383280"/>
            <a:ext cx="1600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2E7D32"/>
                </a:solidFill>
                <a:latin typeface="微软雅黑"/>
                <a:ea typeface="微软雅黑"/>
              </a:rPr>
              <a:t>秤 = 0 失重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9048" y="1920240"/>
            <a:ext cx="0" cy="640080"/>
          </a:xfrm>
          <a:prstGeom prst="line">
            <a:avLst/>
          </a:prstGeom>
          <a:ln w="2794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943600" y="1965960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E7D32"/>
                </a:solidFill>
                <a:latin typeface="微软雅黑"/>
                <a:ea typeface="微软雅黑"/>
              </a:rPr>
              <a:t>自由落体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343400"/>
            <a:ext cx="5806440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关键洞察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▸ 秤测的从来不是'加速度',是'支撑力'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▸ 加速度计就是那个'秤':它测的是比力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      f = a − g   (specific force)</a:t>
            </a:r>
          </a:p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595959"/>
                </a:solidFill>
                <a:latin typeface="微软雅黑"/>
                <a:ea typeface="微软雅黑"/>
              </a:rPr>
              <a:t>▸ 静止时 a=0 → 输出恰好是 −g(重力!)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E7D32"/>
                </a:solidFill>
                <a:latin typeface="微软雅黑"/>
                <a:ea typeface="微软雅黑"/>
              </a:rPr>
              <a:t>   → 免费获得'永远指向地心'的参考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1325880"/>
            <a:ext cx="5257800" cy="2286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F3864"/>
                </a:solidFill>
                <a:latin typeface="微软雅黑"/>
                <a:ea typeface="微软雅黑"/>
              </a:rPr>
              <a:t>于是加速度计 = 倾角计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2E75B6"/>
                </a:solidFill>
                <a:latin typeface="微软雅黑"/>
                <a:ea typeface="微软雅黑"/>
              </a:rPr>
              <a:t>roll  = atan2( ay , az )</a:t>
            </a:r>
          </a:p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2E75B6"/>
                </a:solidFill>
                <a:latin typeface="微软雅黑"/>
                <a:ea typeface="微软雅黑"/>
              </a:rPr>
              <a:t>pitch = atan2( −ax , √(ay²+az²) )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板子一倾斜,重力在三轴的分量就变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→ 解三角函数就能反推出倾角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37960" y="3840480"/>
            <a:ext cx="5257800" cy="246888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C00000"/>
                </a:solidFill>
                <a:latin typeface="微软雅黑"/>
                <a:ea typeface="微软雅黑"/>
              </a:rPr>
              <a:t>但它有个致命弱点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C00000"/>
                </a:solidFill>
                <a:latin typeface="微软雅黑"/>
                <a:ea typeface="微软雅黑"/>
              </a:rPr>
              <a:t>▸ 它分不清'重力'和'运动加速度'!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电机一转、机身一晃,读数立刻被污染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转弯的离心加速度也会被当成'倾斜'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结论:加计'准但脏' → 静止是天使,机动是噪音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IMU 原理③ 为什么融合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一个管快,一个管准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1005840" y="1554480"/>
            <a:ext cx="0" cy="2606040"/>
          </a:xfrm>
          <a:prstGeom prst="line">
            <a:avLst/>
          </a:prstGeom>
          <a:ln w="2286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05840" y="4160520"/>
            <a:ext cx="8412480" cy="0"/>
          </a:xfrm>
          <a:prstGeom prst="line">
            <a:avLst/>
          </a:prstGeom>
          <a:ln w="2286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28600" y="1481328"/>
            <a:ext cx="777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95959"/>
                </a:solidFill>
                <a:latin typeface="微软雅黑"/>
                <a:ea typeface="微软雅黑"/>
              </a:rPr>
              <a:t>可信度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24528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595959"/>
                </a:solidFill>
                <a:latin typeface="微软雅黑"/>
                <a:ea typeface="微软雅黑"/>
              </a:rPr>
              <a:t>低频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224528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595959"/>
                </a:solidFill>
                <a:latin typeface="微软雅黑"/>
                <a:ea typeface="微软雅黑"/>
              </a:rPr>
              <a:t>高频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4224528"/>
            <a:ext cx="2194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信号的频率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05840" y="1997049"/>
            <a:ext cx="290648" cy="21824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296488" y="2215292"/>
            <a:ext cx="290649" cy="19467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587137" y="2409965"/>
            <a:ext cx="290648" cy="173649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877785" y="2583614"/>
            <a:ext cx="290649" cy="154896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168434" y="2738510"/>
            <a:ext cx="290648" cy="138167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459082" y="2876677"/>
            <a:ext cx="290649" cy="123246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9731" y="2999923"/>
            <a:ext cx="290649" cy="109935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040380" y="3109858"/>
            <a:ext cx="290648" cy="9806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331028" y="3207921"/>
            <a:ext cx="290649" cy="87472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21677" y="3295393"/>
            <a:ext cx="290648" cy="78026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912325" y="3373419"/>
            <a:ext cx="290649" cy="69599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02974" y="3443018"/>
            <a:ext cx="290648" cy="6208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93622" y="3505101"/>
            <a:ext cx="290649" cy="55378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784271" y="3560479"/>
            <a:ext cx="290649" cy="49397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074920" y="3609876"/>
            <a:ext cx="290648" cy="44062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65568" y="3653938"/>
            <a:ext cx="290649" cy="39304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656217" y="3693242"/>
            <a:ext cx="290648" cy="35059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46865" y="3728301"/>
            <a:ext cx="290649" cy="3127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37514" y="3759574"/>
            <a:ext cx="290648" cy="27896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528162" y="3787470"/>
            <a:ext cx="290649" cy="24882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818811" y="3812352"/>
            <a:ext cx="290649" cy="22196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09460" y="3834548"/>
            <a:ext cx="290648" cy="19799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00108" y="3854347"/>
            <a:ext cx="290649" cy="17660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690757" y="3872007"/>
            <a:ext cx="290648" cy="1575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981405" y="3887760"/>
            <a:ext cx="290649" cy="14052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272054" y="3901812"/>
            <a:ext cx="290648" cy="12534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562702" y="3914346"/>
            <a:ext cx="290649" cy="11181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853351" y="3925527"/>
            <a:ext cx="290649" cy="997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005840" y="3193083"/>
            <a:ext cx="290648" cy="44440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296488" y="2870844"/>
            <a:ext cx="290649" cy="322239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587137" y="2637184"/>
            <a:ext cx="290648" cy="23366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877785" y="2467754"/>
            <a:ext cx="290649" cy="16943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168434" y="2344898"/>
            <a:ext cx="290648" cy="122856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459082" y="2255814"/>
            <a:ext cx="290649" cy="89084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749731" y="2191218"/>
            <a:ext cx="290649" cy="64596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040380" y="2144379"/>
            <a:ext cx="290648" cy="46839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331028" y="2110415"/>
            <a:ext cx="290649" cy="33964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621677" y="2085787"/>
            <a:ext cx="290648" cy="24628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912325" y="2067930"/>
            <a:ext cx="290649" cy="17857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4202974" y="2054981"/>
            <a:ext cx="290648" cy="12949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493622" y="2045591"/>
            <a:ext cx="290649" cy="939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784271" y="2038783"/>
            <a:ext cx="290649" cy="6808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5074920" y="2033846"/>
            <a:ext cx="290648" cy="4937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5365568" y="2030266"/>
            <a:ext cx="290649" cy="358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656217" y="2027671"/>
            <a:ext cx="290648" cy="2595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946865" y="2025788"/>
            <a:ext cx="290649" cy="1883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237514" y="2024424"/>
            <a:ext cx="290648" cy="1364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6528162" y="2023434"/>
            <a:ext cx="290649" cy="99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818811" y="2022716"/>
            <a:ext cx="290649" cy="718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7109460" y="2022196"/>
            <a:ext cx="290648" cy="52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400108" y="2021819"/>
            <a:ext cx="290649" cy="377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7690757" y="2021545"/>
            <a:ext cx="290648" cy="274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7981405" y="2021347"/>
            <a:ext cx="290649" cy="198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272054" y="2021203"/>
            <a:ext cx="290648" cy="144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8562702" y="2021099"/>
            <a:ext cx="290649" cy="104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8853351" y="2021023"/>
            <a:ext cx="290649" cy="76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234440" y="1691640"/>
            <a:ext cx="23774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微软雅黑"/>
                <a:ea typeface="微软雅黑"/>
              </a:rPr>
              <a:t>加速度计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0" y="1783080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E75B6"/>
                </a:solidFill>
                <a:latin typeface="微软雅黑"/>
                <a:ea typeface="微软雅黑"/>
              </a:rPr>
              <a:t>陀螺仪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4617720" y="1600200"/>
            <a:ext cx="0" cy="2560320"/>
          </a:xfrm>
          <a:prstGeom prst="line">
            <a:avLst/>
          </a:prstGeom>
          <a:ln w="19050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977639" y="1325880"/>
            <a:ext cx="2103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交界(截止频率)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88720" y="4892040"/>
            <a:ext cx="3840480" cy="13716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互补滤波 = 频域分工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E75B6"/>
                </a:solidFill>
                <a:latin typeface="微软雅黑"/>
                <a:ea typeface="微软雅黑"/>
              </a:rPr>
              <a:t>姿态 = 低通(加计) + 高通(陀螺)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两条曲线拼起来 = 全带宽可信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349240" y="4892040"/>
            <a:ext cx="6446520" cy="13716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落到这个项目上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陀螺积分给'动态',加计长期'拽回'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▸ Mahony 就是这种融合的经典实现(后面详拆)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姿态怎么表示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先画两个坐标系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486400" cy="374903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53312"/>
            <a:ext cx="3108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世界系(固定不动): 东-北-地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3794760"/>
            <a:ext cx="123444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246120" y="3648456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595959"/>
                </a:solidFill>
                <a:latin typeface="微软雅黑"/>
                <a:ea typeface="微软雅黑"/>
              </a:rPr>
              <a:t>y东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1965960" y="2560320"/>
            <a:ext cx="0" cy="123444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020824" y="2313432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595959"/>
                </a:solidFill>
                <a:latin typeface="微软雅黑"/>
                <a:ea typeface="微软雅黑"/>
              </a:rPr>
              <a:t>x北</a:t>
            </a:r>
          </a:p>
        </p:txBody>
      </p:sp>
      <p:sp>
        <p:nvSpPr>
          <p:cNvPr id="12" name="Oval 11"/>
          <p:cNvSpPr/>
          <p:nvPr/>
        </p:nvSpPr>
        <p:spPr>
          <a:xfrm>
            <a:off x="1874519" y="3703320"/>
            <a:ext cx="182880" cy="182880"/>
          </a:xfrm>
          <a:prstGeom prst="ellipse">
            <a:avLst/>
          </a:prstGeom>
          <a:noFill/>
          <a:ln w="190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911095" y="3739896"/>
            <a:ext cx="109729" cy="109728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911095" y="3739896"/>
            <a:ext cx="109729" cy="109728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075688" y="3648456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95959"/>
                </a:solidFill>
                <a:latin typeface="微软雅黑"/>
                <a:ea typeface="微软雅黑"/>
              </a:rPr>
              <a:t>z地(出屏)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353312"/>
            <a:ext cx="2560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机体系(跟着飞机转)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343400" y="2409086"/>
            <a:ext cx="1046864" cy="654154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35984" y="2317646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x前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43400" y="3063240"/>
            <a:ext cx="348954" cy="557241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765506" y="3638769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y右</a:t>
            </a:r>
          </a:p>
        </p:txBody>
      </p:sp>
      <p:sp>
        <p:nvSpPr>
          <p:cNvPr id="21" name="Oval 20"/>
          <p:cNvSpPr/>
          <p:nvPr/>
        </p:nvSpPr>
        <p:spPr>
          <a:xfrm>
            <a:off x="4251960" y="2971800"/>
            <a:ext cx="182880" cy="182880"/>
          </a:xfrm>
          <a:prstGeom prst="ellipse">
            <a:avLst/>
          </a:prstGeom>
          <a:noFill/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288536" y="3008376"/>
            <a:ext cx="109728" cy="109728"/>
          </a:xfrm>
          <a:prstGeom prst="line">
            <a:avLst/>
          </a:prstGeom>
          <a:ln w="19050">
            <a:solidFill>
              <a:srgbClr val="1F386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288536" y="3008376"/>
            <a:ext cx="109728" cy="109728"/>
          </a:xfrm>
          <a:prstGeom prst="line">
            <a:avLst/>
          </a:prstGeom>
          <a:ln w="19050">
            <a:solidFill>
              <a:srgbClr val="1F386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53128" y="2916936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微软雅黑"/>
                <a:ea typeface="微软雅黑"/>
              </a:rPr>
              <a:t>z下(出屏)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840480" y="2560320"/>
            <a:ext cx="0" cy="0"/>
          </a:xfrm>
          <a:prstGeom prst="line">
            <a:avLst/>
          </a:prstGeom>
          <a:ln w="33020">
            <a:solidFill>
              <a:srgbClr val="ED7D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846320" y="3566160"/>
            <a:ext cx="0" cy="0"/>
          </a:xfrm>
          <a:prstGeom prst="line">
            <a:avLst/>
          </a:prstGeom>
          <a:ln w="33020">
            <a:solidFill>
              <a:srgbClr val="ED7D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675887" y="2395728"/>
            <a:ext cx="201168" cy="20116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09744" y="2395728"/>
            <a:ext cx="201168" cy="20116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675887" y="3529584"/>
            <a:ext cx="201168" cy="20116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09744" y="3529584"/>
            <a:ext cx="201168" cy="20116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ircular Arrow 30"/>
          <p:cNvSpPr/>
          <p:nvPr/>
        </p:nvSpPr>
        <p:spPr>
          <a:xfrm>
            <a:off x="2880360" y="2377440"/>
            <a:ext cx="548640" cy="548640"/>
          </a:xfrm>
          <a:prstGeom prst="circular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0" y="1691640"/>
            <a:ext cx="29260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C00000"/>
                </a:solidFill>
                <a:latin typeface="微软雅黑"/>
                <a:ea typeface="微软雅黑"/>
              </a:rPr>
              <a:t>姿态 q =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00000"/>
                </a:solidFill>
                <a:latin typeface="微软雅黑"/>
                <a:ea typeface="微软雅黑"/>
              </a:rPr>
              <a:t>这两个坐标系的旋转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572000"/>
            <a:ext cx="5303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传感器读数在机体系;重力在世界系 z 轴 → 解算=找两者关系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0" y="1280160"/>
          <a:ext cx="539496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685800"/>
                <a:gridCol w="347472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表示方法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参数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一句话评价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欧拉角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直观;有万向节锁;适合给人看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旋转矩阵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无奇异;但参数冗余运算大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四元数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无奇异;只有乘加;工程首选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400800" y="3657600"/>
            <a:ext cx="5394960" cy="265176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C00000"/>
                </a:solidFill>
                <a:latin typeface="微软雅黑"/>
                <a:ea typeface="微软雅黑"/>
              </a:rPr>
              <a:t>万向节锁,一句话版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欧拉角规定按 Z→Y→X 三次转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抬头到 90° 那一刻,第一次转的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00000"/>
                </a:solidFill>
                <a:latin typeface="微软雅黑"/>
                <a:ea typeface="微软雅黑"/>
              </a:rPr>
              <a:t>   偏航和第三次转的横滚变成同一根轴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00000"/>
                </a:solidFill>
                <a:latin typeface="微软雅黑"/>
                <a:ea typeface="微软雅黑"/>
              </a:rPr>
              <a:t>▸ 三个自由度只剩两个 → 姿态'卡死'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2E7D32"/>
                </a:solidFill>
                <a:latin typeface="微软雅黑"/>
                <a:ea typeface="微软雅黑"/>
              </a:rPr>
              <a:t>四元数/矩阵'一次转到位',没有这个坑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四元数怎么用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别怕,工程上只用三招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486400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53312"/>
            <a:ext cx="4114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直觉:单位四元数 = 绕某根轴转一个角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920240" y="2194560"/>
            <a:ext cx="1554480" cy="1051560"/>
          </a:xfrm>
          <a:prstGeom prst="line">
            <a:avLst/>
          </a:prstGeom>
          <a:ln w="3175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154680" y="1920239"/>
            <a:ext cx="1463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转轴 n</a:t>
            </a:r>
          </a:p>
        </p:txBody>
      </p:sp>
      <p:sp>
        <p:nvSpPr>
          <p:cNvPr id="10" name="Circular Arrow 9"/>
          <p:cNvSpPr/>
          <p:nvPr/>
        </p:nvSpPr>
        <p:spPr>
          <a:xfrm>
            <a:off x="3154680" y="2560320"/>
            <a:ext cx="566928" cy="566928"/>
          </a:xfrm>
          <a:prstGeom prst="circularArrow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2926079"/>
            <a:ext cx="10972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D7D31"/>
                </a:solidFill>
                <a:latin typeface="微软雅黑"/>
                <a:ea typeface="微软雅黑"/>
              </a:rPr>
              <a:t>转角 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178308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2E75B6"/>
                </a:solidFill>
                <a:latin typeface="微软雅黑"/>
                <a:ea typeface="微软雅黑"/>
              </a:rPr>
              <a:t>q = [ cos(θ/2),  n·sin(θ/2) 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69080"/>
            <a:ext cx="5486400" cy="224028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工程上只需记住三件事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① q⊗p = 两个旋转叠加(先q后p)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② |q| 必须保持 = 1(每步归一化)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③ 共轭 q* = 反着转(坐标系互转用)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2E7D32"/>
                </a:solidFill>
                <a:latin typeface="微软雅黑"/>
                <a:ea typeface="微软雅黑"/>
              </a:rPr>
              <a:t>内部用四元数算,给人看时转欧拉角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280160"/>
            <a:ext cx="5440680" cy="22402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唯一的核心方程:姿态更新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2E75B6"/>
                </a:solidFill>
                <a:latin typeface="微软雅黑"/>
                <a:ea typeface="微软雅黑"/>
              </a:rPr>
              <a:t>q̇ = ½ q ⊗ [0, ω]</a:t>
            </a:r>
          </a:p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每个周期:  q ← q + q̇·dt , 再归一化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陀螺的角速度,就这样'转'进姿态里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794760"/>
            <a:ext cx="5440680" cy="25146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输出:转成欧拉角给人看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roll  = atan2( 2(q0q1+q2q3), 1−2(q1²+q2²) )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pitch = asin( 2(q0q2−q3q1) )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yaw   = atan2( 2(q0q3+q1q2), 1−2(q2²+q3²) )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ED7D31"/>
                </a:solidFill>
                <a:latin typeface="微软雅黑"/>
                <a:ea typeface="微软雅黑"/>
              </a:rPr>
              <a:t>三个易错点:ω 用 rad/s 且减零偏;dt 用实测;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ED7D31"/>
                </a:solidFill>
                <a:latin typeface="微软雅黑"/>
                <a:ea typeface="微软雅黑"/>
              </a:rPr>
              <a:t>asin 参数钳位防 NaN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Mahony 互补滤波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总框图:陀螺主内,加计纠偏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1600200" cy="7772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陀螺 ω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rad/s·去零偏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417320"/>
            <a:ext cx="50292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</a:rPr>
              <a:t>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325880"/>
            <a:ext cx="196596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积分更新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q ← q+½q⊗ω'·dt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132588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四元数 q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每步归一化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2588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欧拉角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roll/pitch/yaw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306324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重力预测</a:t>
            </a:r>
          </a:p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95959"/>
                </a:solidFill>
                <a:latin typeface="微软雅黑"/>
                <a:ea typeface="微软雅黑"/>
              </a:rPr>
              <a:t>v = R(q)ᵀ·[0,0,1]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3063240"/>
            <a:ext cx="50292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C00000"/>
                </a:solidFill>
                <a:latin typeface="微软雅黑"/>
                <a:ea typeface="微软雅黑"/>
              </a:rPr>
              <a:t>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63240"/>
            <a:ext cx="1600200" cy="7772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加计 a</a:t>
            </a:r>
          </a:p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95959"/>
                </a:solidFill>
                <a:latin typeface="微软雅黑"/>
                <a:ea typeface="微软雅黑"/>
              </a:rPr>
              <a:t>归一化为单位向量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4434840"/>
            <a:ext cx="2286000" cy="82296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PI 修正</a:t>
            </a:r>
          </a:p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</a:rPr>
              <a:t>ω' = ω + Kp·e + Ki·∫e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48840" y="1709928"/>
            <a:ext cx="45720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08960" y="1709928"/>
            <a:ext cx="41148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486400" y="1709928"/>
            <a:ext cx="50292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543800" y="1709928"/>
            <a:ext cx="54864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766560" y="2103120"/>
            <a:ext cx="0" cy="96012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4709160" y="3447288"/>
            <a:ext cx="128016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148840" y="3447288"/>
            <a:ext cx="205740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3931920" y="3840480"/>
            <a:ext cx="521208" cy="59436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834640" y="4846320"/>
            <a:ext cx="502920" cy="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834640" y="2011680"/>
            <a:ext cx="0" cy="283464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800600" y="2697480"/>
            <a:ext cx="17373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C00000"/>
                </a:solidFill>
                <a:latin typeface="微软雅黑"/>
                <a:ea typeface="微软雅黑"/>
              </a:rPr>
              <a:t>误差 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892040"/>
            <a:ext cx="2651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ED7D31"/>
                </a:solidFill>
                <a:latin typeface="微软雅黑"/>
                <a:ea typeface="微软雅黑"/>
              </a:rPr>
              <a:t>修正量回注陀螺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66960" y="3063240"/>
            <a:ext cx="1828800" cy="21945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有效性门限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|a| 超出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[0.5,20]m/s²</a:t>
            </a:r>
          </a:p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</a:rPr>
              <a:t>跳过修正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(机动时只信陀螺)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Mahony 四步拆解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每步一行代码级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691640" cy="9601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微软雅黑"/>
                <a:ea typeface="微软雅黑"/>
              </a:rPr>
              <a:t>① 重力预测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11887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由当前 q 算'重力应在机体系哪个方向'</a:t>
            </a:r>
          </a:p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v = R(q)ᵀ·[0,0,1]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188720"/>
            <a:ext cx="59893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vx = q1q3 − q0q2   vy = q0q1 + q2q3   vz = q0² − ½ + q3²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31720"/>
            <a:ext cx="1691640" cy="9601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微软雅黑"/>
                <a:ea typeface="微软雅黑"/>
              </a:rPr>
              <a:t>② 误差 = 叉积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1720" y="23317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实测重力方向 × 预测方向</a:t>
            </a:r>
          </a:p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e = a_norm × 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2331720"/>
            <a:ext cx="59893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方向=转回去的轴, 大小=sin夹角 (两个都是单位向量)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74720"/>
            <a:ext cx="1691640" cy="9601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微软雅黑"/>
                <a:ea typeface="微软雅黑"/>
              </a:rPr>
              <a:t>③ PI 修正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31720" y="34747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误差换算成角速度修正量</a:t>
            </a:r>
          </a:p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ω' = ω + Kp·e + Ki·∫e·dt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3474720"/>
            <a:ext cx="59893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Kp:立即拽回(收敛快但抖)  Ki:消恒值零偏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17720"/>
            <a:ext cx="1691640" cy="9601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微软雅黑"/>
                <a:ea typeface="微软雅黑"/>
              </a:rPr>
              <a:t>④ 积分+归一化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46177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修正后的角速度进积分器</a:t>
            </a:r>
          </a:p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q ← q + ½·q⊗ω'·dt ; q ← q/|q|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720" y="4617720"/>
            <a:ext cx="59893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归一化防数值发散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806440"/>
            <a:ext cx="11247120" cy="82296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调参指引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Kp 从 0.5 起:静止收敛 1~2s 为宜,太快抖/太慢肉;Ki 取 Kp 的 1/10。验证:手转任意角度回平,roll/pitch 应秒级归零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深挖① 误差叉积为什么能用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几何 + 来路 + PI 的物理意义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21208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07592"/>
            <a:ext cx="47548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两个单位向量:预测的重力 vs 实测的重力</a:t>
            </a:r>
          </a:p>
        </p:txBody>
      </p:sp>
      <p:cxnSp>
        <p:nvCxnSpPr>
          <p:cNvPr id="8" name="Connector 7"/>
          <p:cNvCxnSpPr/>
          <p:nvPr/>
        </p:nvCxnSpPr>
        <p:spPr>
          <a:xfrm flipH="1" flipV="1">
            <a:off x="1325880" y="2148840"/>
            <a:ext cx="1783080" cy="1783080"/>
          </a:xfrm>
          <a:prstGeom prst="line">
            <a:avLst/>
          </a:prstGeom>
          <a:ln w="3302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183794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D32"/>
                </a:solidFill>
                <a:latin typeface="微软雅黑"/>
                <a:ea typeface="微软雅黑"/>
              </a:rPr>
              <a:t>v̂ 预测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3108960" y="1828800"/>
            <a:ext cx="685800" cy="2103120"/>
          </a:xfrm>
          <a:prstGeom prst="line">
            <a:avLst/>
          </a:prstGeom>
          <a:ln w="3302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867912" y="153619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D7D31"/>
                </a:solidFill>
                <a:latin typeface="微软雅黑"/>
                <a:ea typeface="微软雅黑"/>
              </a:rPr>
              <a:t>â 实测</a:t>
            </a:r>
          </a:p>
        </p:txBody>
      </p:sp>
      <p:sp>
        <p:nvSpPr>
          <p:cNvPr id="12" name="Circular Arrow 11"/>
          <p:cNvSpPr/>
          <p:nvPr/>
        </p:nvSpPr>
        <p:spPr>
          <a:xfrm>
            <a:off x="2240280" y="2880360"/>
            <a:ext cx="685800" cy="685800"/>
          </a:xfrm>
          <a:prstGeom prst="circular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3977639"/>
            <a:ext cx="1188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夹角 θe</a:t>
            </a:r>
          </a:p>
        </p:txBody>
      </p:sp>
      <p:sp>
        <p:nvSpPr>
          <p:cNvPr id="14" name="Oval 13"/>
          <p:cNvSpPr/>
          <p:nvPr/>
        </p:nvSpPr>
        <p:spPr>
          <a:xfrm>
            <a:off x="2926079" y="2514600"/>
            <a:ext cx="182880" cy="182880"/>
          </a:xfrm>
          <a:prstGeom prst="ellipse">
            <a:avLst/>
          </a:prstGeom>
          <a:noFill/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2962656" y="2551176"/>
            <a:ext cx="109728" cy="109728"/>
          </a:xfrm>
          <a:prstGeom prst="line">
            <a:avLst/>
          </a:prstGeom>
          <a:ln w="1905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962656" y="2551176"/>
            <a:ext cx="109728" cy="109728"/>
          </a:xfrm>
          <a:prstGeom prst="line">
            <a:avLst/>
          </a:prstGeom>
          <a:ln w="1905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127248" y="2459736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e 的方向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e = â × v̂ :|e| = sin θe ,方向 = 把 v̂ 转到 â 的那根轴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709160"/>
            <a:ext cx="5212080" cy="16002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为什么这是'姿态误差'?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两个重力方向差多少 = 姿态估歪多少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小角度时 sinθe ≈ θe → e 就是现成的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   线性误差信号,直接当角速度用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1234440"/>
            <a:ext cx="5852160" cy="18288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v̂ 的来路:把世界系 z 轴转到机体系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v̂ = R(q)ᵀ · [0,0,1] ,展开就是代码里的: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vx = 2(q1q3−q0q2)  vy = 2(q0q1+q2q3)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vz = q0²−q1²−q2²+q3²   (代码存一半值)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3246120"/>
            <a:ext cx="5852160" cy="306324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PI 两项各自在干什么</a:t>
            </a:r>
          </a:p>
          <a:p>
            <a:pPr algn="l">
              <a:spcAft>
                <a:spcPts val="200"/>
              </a:spcAft>
            </a:pPr>
            <a:r>
              <a:rPr sz="3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Kp·e:比例拽回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等价于一阶互补滤波的截止频率: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Kp 大 = 更信加计、收敛快;Kp 小 = 更信陀螺</a:t>
            </a:r>
          </a:p>
          <a:p>
            <a:pPr algn="l">
              <a:spcAft>
                <a:spcPts val="200"/>
              </a:spcAft>
            </a:pPr>
            <a:r>
              <a:rPr sz="5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Ki·∫e:其实是在线估计陀螺零偏!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恒定的误差被积分器慢慢攒下来,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正好就是'没校干净的零偏',自动补偿</a:t>
            </a:r>
          </a:p>
          <a:p>
            <a:pPr algn="l">
              <a:spcAft>
                <a:spcPts val="200"/>
              </a:spcAft>
            </a:pPr>
            <a:r>
              <a:rPr sz="5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ED7D31"/>
                </a:solidFill>
                <a:latin typeface="微软雅黑"/>
                <a:ea typeface="微软雅黑"/>
              </a:rPr>
              <a:t>局限:重力绕 z 轴对称 → 加计对 yaw 无感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ED7D31"/>
                </a:solidFill>
                <a:latin typeface="微软雅黑"/>
                <a:ea typeface="微软雅黑"/>
              </a:rPr>
              <a:t>→ yaw 只靠陀螺,会慢漂(想不漂要磁力计)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深挖② 数值实现细节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从公式到代码的四件事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623560" cy="26517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① 离散积分的四行标量式</a:t>
            </a:r>
          </a:p>
          <a:p>
            <a:pPr algn="l">
              <a:spcAft>
                <a:spcPts val="200"/>
              </a:spcAft>
            </a:pPr>
            <a:r>
              <a:rPr sz="3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先算 g = ω'·dt/2 ,然后(用同一拍旧 q!):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q0 += −q1·gx − q2·gy − q3·gz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q1 +=  q0·gx + q3·gy − q2·gz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q2 +=  q3·gx − q0·gy + q1·gz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q3 += −q2·gx + q1·gy + q0·gz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▸ 四行必须用更新前的旧 q (先备份)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23360"/>
            <a:ext cx="5623560" cy="2286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② 每步归一化,为什么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截断误差让 |q| 慢慢 ≠ 1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|q|≠1 的四元数不再是纯旋转,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姿态会'缩水/变形'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▸ q ← q / |q| ,一次 sqrt + 4 次除法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500Hz 下开销可忽略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188720"/>
            <a:ext cx="5440680" cy="26517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③ 欧拉角从旋转矩阵元素来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atan2 不是拍脑袋:正好取自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R(q) 里对应的两两组合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单值域:roll/yaw ∈ (−π,π]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pitch ∈ [−π/2, π/2] 用 asin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0000"/>
                </a:solidFill>
                <a:latin typeface="微软雅黑"/>
                <a:ea typeface="微软雅黑"/>
              </a:rPr>
              <a:t>▸ asin 内层必须钳位,否则 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4023360"/>
            <a:ext cx="5440680" cy="228600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C00000"/>
                </a:solidFill>
                <a:latin typeface="微软雅黑"/>
                <a:ea typeface="微软雅黑"/>
              </a:rPr>
              <a:t>④ 三个高频翻车点(实测踩过)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单位混乱:deg/s 与 rad/s 混用 →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姿态慢 57 倍,一眼假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忘减零偏 → 静止也在'匀速旋转'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dt 用猜不用测 → 收敛速度不对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垂直加速度 az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去掉重力,才知道悬停了没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577840" cy="26517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E75B6"/>
                </a:solidFill>
                <a:latin typeface="微软雅黑"/>
                <a:ea typeface="微软雅黑"/>
              </a:rPr>
              <a:t>a_world = R(q) · a_body</a:t>
            </a:r>
          </a:p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取世界系 z 分量(R 第三行):</a:t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az = 2(q1q3−q0q2)·ax + 2(q2q3+q0q1)·ay</a:t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     + (q0²−q1²−q2²+q3²)·az_b − g</a:t>
            </a:r>
          </a:p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物理含义:扣除重力后的净垂直加速度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114800"/>
            <a:ext cx="5577840" cy="2194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为什么需要它?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没有气压计/高度计 → 无法直接定高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但'悬停'的物理条件是 az = 0(升力=重力)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用加速度闭环逼近悬停,不积分不发散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188720"/>
            <a:ext cx="5303520" cy="23774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精度依赖姿态精度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姿态误差 θ → az 误差 ≈ g·θ²/2(二阶小量)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小角度下安全;大倾角需姿态准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ED7D31"/>
                </a:solidFill>
                <a:latin typeface="微软雅黑"/>
                <a:ea typeface="微软雅黑"/>
              </a:rPr>
              <a:t>▸ 曾发现系数符号写反(转置矩阵)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2E7D32"/>
                </a:solidFill>
                <a:latin typeface="微软雅黑"/>
                <a:ea typeface="微软雅黑"/>
              </a:rPr>
              <a:t>   → 已修复并加回归用例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3840480"/>
            <a:ext cx="5303520" cy="25603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az 环怎么用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E75B6"/>
                </a:solidFill>
                <a:latin typeface="微软雅黑"/>
                <a:ea typeface="微软雅黑"/>
              </a:rPr>
              <a:t>悬停态:throttle −= az × 0.0002 (每 5ms)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az&gt;0 在升 → 收油门;az&lt;0 在掉 → 加油门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收敛到 az≈0,即'加速度意义下的悬停'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ED7D31"/>
                </a:solidFill>
                <a:latin typeface="微软雅黑"/>
                <a:ea typeface="微软雅黑"/>
              </a:rPr>
              <a:t>局限:速度不为零时托住的是'趋势',会缓慢漂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姿态解算实用要点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门限 · 调参 · 滤波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657600" cy="502920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00000"/>
                </a:solidFill>
                <a:latin typeface="微软雅黑"/>
                <a:ea typeface="微软雅黑"/>
              </a:rPr>
              <a:t>修正门限(重要)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C00000"/>
                </a:solidFill>
                <a:latin typeface="微软雅黑"/>
                <a:ea typeface="微软雅黑"/>
              </a:rPr>
              <a:t>当 |a| ∉ [0.5, 20] m/s²: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C00000"/>
                </a:solidFill>
                <a:latin typeface="微软雅黑"/>
                <a:ea typeface="微软雅黑"/>
              </a:rPr>
              <a:t>跳过加计修正,只信陀螺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为什么?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机动/振动时,加计测的不只是重力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这时它的'倾角信息'是错的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宁可暂时漂,也不能被它带偏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→ 类比:导航员晕船时,先别听他的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234440"/>
            <a:ext cx="3657600" cy="50292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两个参数怎么调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Kp = 0.5:拽回的力度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大:收敛快但姿态抖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小:平稳但纠偏慢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▸ 判据:静止放置 1~2 秒对准水平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Ki = 0.05:消'慢性子'偏差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针对陀螺残余零偏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从 Kp/10 起步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D32"/>
                </a:solidFill>
                <a:latin typeface="微软雅黑"/>
                <a:ea typeface="微软雅黑"/>
              </a:rPr>
              <a:t>本项目: Kp=0.5, Ki=0.05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1234440"/>
            <a:ext cx="3611880" cy="50292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进数据前先滤波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y[n]=(1−α)y[n−1]+αx[n]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电机/机架振动几十~几百Hz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姿态信号 &lt;20Hz,滤掉不吃亏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两级级联=二阶,更干净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取舍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D7D31"/>
                </a:solidFill>
                <a:latin typeface="微软雅黑"/>
                <a:ea typeface="微软雅黑"/>
              </a:rPr>
              <a:t>▸ 滤得越狠,相位滞后越大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加计重滤(只供慢基准)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陀螺轻滤(内环要快)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系统架构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四任务流水线 + 中断前端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600200" cy="6858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MPU6050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I²C 400kHz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1600200" cy="82296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手机 App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BLE→UART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188720"/>
            <a:ext cx="182880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ImuRead 任务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500Hz · 优先级6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采集+零偏校准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1188720"/>
            <a:ext cx="182880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Attitude 任务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500Hz · 优先级5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滤波+Mahony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188720"/>
            <a:ext cx="1828800" cy="96012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Control 任务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200Hz · 优先级4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安全链+串级PID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78440" y="1170432"/>
            <a:ext cx="1417320" cy="10058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Mixer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+ TIM3 PWM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4kHz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283464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Comm 任务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事件驱动 · 优先级3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BLE帧解析分发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283464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USART1 ISR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逐字节接收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57400" y="1664208"/>
            <a:ext cx="68580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1664208"/>
            <a:ext cx="9144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315200" y="1664208"/>
            <a:ext cx="914400" cy="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58400" y="1664208"/>
            <a:ext cx="32004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651760" y="3291840"/>
            <a:ext cx="91440" cy="0"/>
          </a:xfrm>
          <a:prstGeom prst="line">
            <a:avLst/>
          </a:prstGeom>
          <a:ln w="25400">
            <a:solidFill>
              <a:srgbClr val="2E75B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572000" y="3291840"/>
            <a:ext cx="914400" cy="0"/>
          </a:xfrm>
          <a:prstGeom prst="line">
            <a:avLst/>
          </a:prstGeom>
          <a:ln w="2540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00800" y="2148840"/>
            <a:ext cx="0" cy="68580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709160" y="1737360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/>
                <a:ea typeface="微软雅黑"/>
              </a:rPr>
              <a:t>队列×10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1737360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ED7D31"/>
                </a:solidFill>
                <a:latin typeface="微软雅黑"/>
                <a:ea typeface="微软雅黑"/>
              </a:rPr>
              <a:t>g_att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31012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/>
                <a:ea typeface="微软雅黑"/>
              </a:rPr>
              <a:t>队列×64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2286000"/>
            <a:ext cx="21945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ED7D31"/>
                </a:solidFill>
                <a:latin typeface="微软雅黑"/>
                <a:ea typeface="微软雅黑"/>
              </a:rPr>
              <a:t>SetTarget/Arm/Emergency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06240"/>
            <a:ext cx="5577840" cy="2103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设计要点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采集/解算/控制/通信四任务解耦,数据流单向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队列做背压与缓冲,ISR 只做入队(短平快)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零偏校准放 ImuRead:运行期单一 I²C 拥有者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姿态共享区:高优先级写+临界区读,免锁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4206240"/>
            <a:ext cx="5486400" cy="2103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频率与负载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500Hz 采样匹配 MPU6050 输出率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200Hz 控制 = 5ms,角度环带宽足够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Control 每拍喂 IWDG,卡死 1s 内复位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浮点全走 FPU,CPU 占用估算 &lt;30%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PID 控制原理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P/I/D 三项各自的本质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86400" cy="10515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连续形式</a:t>
            </a:r>
          </a:p>
          <a:p>
            <a:pPr algn="ctr">
              <a:spcAft>
                <a:spcPts val="200"/>
              </a:spcAft>
            </a:pPr>
            <a:r>
              <a:rPr sz="1650" b="1" i="0">
                <a:solidFill>
                  <a:srgbClr val="2E75B6"/>
                </a:solidFill>
                <a:latin typeface="微软雅黑"/>
                <a:ea typeface="微软雅黑"/>
              </a:rPr>
              <a:t>u(t) = Kp·e(t) + Ki·∫e(t)dt + Kd·de/dt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e = 目标值 − 反馈值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188720"/>
            <a:ext cx="5532120" cy="105156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离散实现(每拍执行)</a:t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2E7D32"/>
                </a:solidFill>
                <a:latin typeface="微软雅黑"/>
                <a:ea typeface="微软雅黑"/>
              </a:rPr>
              <a:t>integral += e·dt;  deriv = (e−e_prev)/dt</a:t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2E7D32"/>
                </a:solidFill>
                <a:latin typeface="微软雅黑"/>
                <a:ea typeface="微软雅黑"/>
              </a:rPr>
              <a:t>u = Kp·e + Ki·integral + Kd·deriv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514600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108960"/>
                <a:gridCol w="3017520"/>
                <a:gridCol w="41605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项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物理直觉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带来的好处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副作用(没有免费的午餐)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P 比例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'现在'的误差,立即纠正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响应快,主干增益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留稳态误差;过大致震荡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I 积分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'过去'误差的累积,不归零不罢休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消除稳态误差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响应慢;积分饱和→超调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D 微分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'未来'趋势的预判,提前刹车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阻尼,抑制震荡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放大噪声;打杆瞬间 kick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5074920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工程整定顺序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① 先 P:加到临界震荡,回退 ~30%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② 再 D:压住震荡(加阻尼)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③ 最后小 I:只用来消静差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5074920"/>
            <a:ext cx="5532120" cy="13716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两个进阶细节(实现中落地)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D 用测量值微分 → 消 derivative kick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I 用输出限幅 + 回算 → 抗积分饱和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PID 控制逻辑(图解)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一个误差,三条支路,合成一个输出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371600" cy="73152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目标角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±30°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23160" y="2194560"/>
            <a:ext cx="50292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1874519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C00000"/>
                </a:solidFill>
                <a:latin typeface="微软雅黑"/>
                <a:ea typeface="微软雅黑"/>
              </a:rPr>
              <a:t>e = 目标−反馈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188720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P 支路</a:t>
            </a:r>
          </a:p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</a:rPr>
              <a:t>Kp · e  ('现在')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2212848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I 支路</a:t>
            </a:r>
          </a:p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Ki · ∫e dt  ('过去')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3246120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D 支路</a:t>
            </a:r>
          </a:p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ED7D31"/>
                </a:solidFill>
                <a:latin typeface="微软雅黑"/>
                <a:ea typeface="微软雅黑"/>
              </a:rPr>
              <a:t>Kd · de/dt  ('未来')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194560"/>
            <a:ext cx="50292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2194560"/>
            <a:ext cx="1737360" cy="73152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执行器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混控+电机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29800" y="2194560"/>
            <a:ext cx="1920240" cy="73152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被控对象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机身(转动惯量)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74519" y="2560320"/>
            <a:ext cx="548641" cy="0"/>
          </a:xfrm>
          <a:prstGeom prst="line">
            <a:avLst/>
          </a:prstGeom>
          <a:ln w="2540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926080" y="1527048"/>
            <a:ext cx="365760" cy="1033272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291840" y="1527048"/>
            <a:ext cx="320040" cy="0"/>
          </a:xfrm>
          <a:prstGeom prst="line">
            <a:avLst/>
          </a:prstGeom>
          <a:ln w="2540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926080" y="2560320"/>
            <a:ext cx="685800" cy="0"/>
          </a:xfrm>
          <a:prstGeom prst="line">
            <a:avLst/>
          </a:prstGeom>
          <a:ln w="2540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6080" y="2560320"/>
            <a:ext cx="365760" cy="1024128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291840" y="3584448"/>
            <a:ext cx="320040" cy="0"/>
          </a:xfrm>
          <a:prstGeom prst="line">
            <a:avLst/>
          </a:prstGeom>
          <a:ln w="2540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897880" y="1527048"/>
            <a:ext cx="41148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309360" y="1527048"/>
            <a:ext cx="0" cy="1033272"/>
          </a:xfrm>
          <a:prstGeom prst="line">
            <a:avLst/>
          </a:prstGeom>
          <a:ln w="2540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897880" y="2560320"/>
            <a:ext cx="640080" cy="0"/>
          </a:xfrm>
          <a:prstGeom prst="line">
            <a:avLst/>
          </a:prstGeom>
          <a:ln w="2540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897880" y="3584448"/>
            <a:ext cx="41148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309360" y="2560320"/>
            <a:ext cx="0" cy="1024128"/>
          </a:xfrm>
          <a:prstGeom prst="line">
            <a:avLst/>
          </a:prstGeom>
          <a:ln w="2540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989320" y="114300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F3864"/>
                </a:solidFill>
                <a:latin typeface="微软雅黑"/>
                <a:ea typeface="微软雅黑"/>
              </a:rPr>
              <a:t>u = P+I+D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40880" y="2560320"/>
            <a:ext cx="54864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326880" y="2560320"/>
            <a:ext cx="50292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789920" y="2926080"/>
            <a:ext cx="0" cy="822959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195560" y="3767328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864"/>
                </a:solidFill>
                <a:latin typeface="微软雅黑"/>
                <a:ea typeface="微软雅黑"/>
              </a:rPr>
              <a:t>姿态角 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0" y="4160520"/>
            <a:ext cx="3200400" cy="6858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传感器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IMU + Mahony(前两章)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789920" y="3749039"/>
            <a:ext cx="0" cy="731521"/>
          </a:xfrm>
          <a:prstGeom prst="line">
            <a:avLst/>
          </a:prstGeom>
          <a:ln w="25400">
            <a:solidFill>
              <a:srgbClr val="1F386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789920" y="4480560"/>
            <a:ext cx="4572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2651760" y="4480560"/>
            <a:ext cx="8138160" cy="0"/>
          </a:xfrm>
          <a:prstGeom prst="line">
            <a:avLst/>
          </a:prstGeom>
          <a:ln w="25400">
            <a:solidFill>
              <a:srgbClr val="1F386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2651760" y="2926080"/>
            <a:ext cx="0" cy="155448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834640" y="4526280"/>
            <a:ext cx="5029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864"/>
                </a:solidFill>
                <a:latin typeface="微软雅黑"/>
                <a:ea typeface="微软雅黑"/>
              </a:rPr>
              <a:t>负反馈:反馈量与目标相减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120640"/>
            <a:ext cx="5486400" cy="12344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负反馈在干什么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e&gt;0(没到目标)→ u&gt;0 → 姿态朝 e 减小的方向动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e&lt;0(冲过头)→ u&lt;0 → 往回拉 → 自动收敛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5120640"/>
            <a:ext cx="5486400" cy="12344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映射到这台无人机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执行器=混控+电机(受力章);对象=机身惯量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传感器=IMU+Mahony;串级=这个框图套两层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Kp / Ki / Kd 对阶跃响应的影响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看曲线调参(蓝=小,绿=适中,红=大)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280160"/>
            <a:ext cx="3429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Kp 增大:更快,但震荡↗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1600200"/>
            <a:ext cx="0" cy="2057399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14400" y="3657599"/>
            <a:ext cx="3063239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2382011"/>
            <a:ext cx="3063239" cy="0"/>
          </a:xfrm>
          <a:prstGeom prst="line">
            <a:avLst/>
          </a:prstGeom>
          <a:ln w="15240">
            <a:solidFill>
              <a:srgbClr val="59595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474720" y="2144268"/>
            <a:ext cx="5486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95959"/>
                </a:solidFill>
                <a:latin typeface="微软雅黑"/>
                <a:ea typeface="微软雅黑"/>
              </a:rPr>
              <a:t>目标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4400" y="3657599"/>
            <a:ext cx="76581" cy="9772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90981" y="3755322"/>
            <a:ext cx="76581" cy="8732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67562" y="3842647"/>
            <a:ext cx="76581" cy="7803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44143" y="3920680"/>
            <a:ext cx="76581" cy="6973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20724" y="3990410"/>
            <a:ext cx="76581" cy="6231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97305" y="4052721"/>
            <a:ext cx="76581" cy="5568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373886" y="4108402"/>
            <a:ext cx="76581" cy="4975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450467" y="4158158"/>
            <a:ext cx="76581" cy="4446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527048" y="4202620"/>
            <a:ext cx="76581" cy="3973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03629" y="4242351"/>
            <a:ext cx="76581" cy="3550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680210" y="4277854"/>
            <a:ext cx="76581" cy="3172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756791" y="4309580"/>
            <a:ext cx="76581" cy="2835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833372" y="4337931"/>
            <a:ext cx="76581" cy="2533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909953" y="4363264"/>
            <a:ext cx="76581" cy="2263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986534" y="4385902"/>
            <a:ext cx="76580" cy="2023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063114" y="4406132"/>
            <a:ext cx="76582" cy="1807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139696" y="4424208"/>
            <a:ext cx="76581" cy="16154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216277" y="4440362"/>
            <a:ext cx="76581" cy="1443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292858" y="4454797"/>
            <a:ext cx="76580" cy="1289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369438" y="4467695"/>
            <a:ext cx="76582" cy="1152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446020" y="4479222"/>
            <a:ext cx="76581" cy="1030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522601" y="4489522"/>
            <a:ext cx="76581" cy="9204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599182" y="4498726"/>
            <a:ext cx="76580" cy="8224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675762" y="4506950"/>
            <a:ext cx="76582" cy="735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52344" y="4514300"/>
            <a:ext cx="76581" cy="656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28925" y="4520867"/>
            <a:ext cx="76581" cy="586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905506" y="4526736"/>
            <a:ext cx="76581" cy="5244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982087" y="4531980"/>
            <a:ext cx="76581" cy="468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058668" y="4536666"/>
            <a:ext cx="76580" cy="418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135248" y="4540854"/>
            <a:ext cx="76581" cy="374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211829" y="4544596"/>
            <a:ext cx="76582" cy="3344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288411" y="4547940"/>
            <a:ext cx="76580" cy="298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364991" y="4550928"/>
            <a:ext cx="76581" cy="267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441572" y="4553598"/>
            <a:ext cx="76581" cy="238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518153" y="4555984"/>
            <a:ext cx="76581" cy="213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594734" y="4558116"/>
            <a:ext cx="76581" cy="190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671315" y="4560022"/>
            <a:ext cx="76582" cy="170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747897" y="4561724"/>
            <a:ext cx="76580" cy="152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824477" y="4563246"/>
            <a:ext cx="76581" cy="135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901058" y="4564605"/>
            <a:ext cx="76581" cy="121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14400" y="3657599"/>
            <a:ext cx="76581" cy="923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90981" y="3666831"/>
            <a:ext cx="76581" cy="2561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67562" y="3692443"/>
            <a:ext cx="76581" cy="3907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144143" y="3731515"/>
            <a:ext cx="76581" cy="4987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220724" y="3781393"/>
            <a:ext cx="76581" cy="5829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297305" y="3839684"/>
            <a:ext cx="76581" cy="6457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373886" y="3904254"/>
            <a:ext cx="76581" cy="6895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450467" y="3973212"/>
            <a:ext cx="76581" cy="7168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527048" y="4044901"/>
            <a:ext cx="76581" cy="72984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603629" y="4117885"/>
            <a:ext cx="76581" cy="7305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680210" y="4190935"/>
            <a:ext cx="76581" cy="7207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756791" y="4263012"/>
            <a:ext cx="76581" cy="7024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833372" y="4333253"/>
            <a:ext cx="76581" cy="6770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909953" y="4400958"/>
            <a:ext cx="76581" cy="6461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986534" y="4465569"/>
            <a:ext cx="76580" cy="6109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063114" y="4526661"/>
            <a:ext cx="76582" cy="57263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139696" y="4583924"/>
            <a:ext cx="76581" cy="5322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216277" y="4637151"/>
            <a:ext cx="76581" cy="4907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292858" y="4686223"/>
            <a:ext cx="76580" cy="4487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369438" y="4731100"/>
            <a:ext cx="76582" cy="4070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446020" y="4771805"/>
            <a:ext cx="76581" cy="36613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522601" y="4808418"/>
            <a:ext cx="76581" cy="3264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599182" y="4841063"/>
            <a:ext cx="76580" cy="2883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675762" y="4869902"/>
            <a:ext cx="76582" cy="2522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752344" y="4895123"/>
            <a:ext cx="76581" cy="21813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828925" y="4916936"/>
            <a:ext cx="76581" cy="1863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905506" y="4935568"/>
            <a:ext cx="76581" cy="15686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982087" y="4951254"/>
            <a:ext cx="76581" cy="1297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058668" y="4964233"/>
            <a:ext cx="76580" cy="10513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35248" y="4974746"/>
            <a:ext cx="76581" cy="828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211829" y="4983031"/>
            <a:ext cx="76582" cy="628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288411" y="4989319"/>
            <a:ext cx="76580" cy="451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364991" y="4993834"/>
            <a:ext cx="76581" cy="295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441572" y="4996789"/>
            <a:ext cx="76581" cy="159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518153" y="4998387"/>
            <a:ext cx="76581" cy="43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594734" y="4998257"/>
            <a:ext cx="76581" cy="56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671315" y="4996869"/>
            <a:ext cx="76582" cy="138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747897" y="4994801"/>
            <a:ext cx="76580" cy="206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824477" y="4992189"/>
            <a:ext cx="76581" cy="261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901058" y="4989155"/>
            <a:ext cx="76581" cy="3034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14400" y="3657599"/>
            <a:ext cx="76581" cy="32041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990981" y="3689640"/>
            <a:ext cx="76581" cy="92231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67562" y="3781871"/>
            <a:ext cx="76581" cy="14460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144143" y="3926478"/>
            <a:ext cx="76581" cy="18698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220724" y="4113461"/>
            <a:ext cx="76581" cy="21778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297305" y="4331243"/>
            <a:ext cx="76581" cy="23609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373886" y="4567336"/>
            <a:ext cx="76581" cy="241671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450467" y="4809007"/>
            <a:ext cx="76581" cy="23491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527048" y="5043926"/>
            <a:ext cx="76581" cy="216835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603629" y="5260761"/>
            <a:ext cx="76581" cy="18892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680210" y="5449685"/>
            <a:ext cx="76581" cy="15310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756791" y="5602788"/>
            <a:ext cx="76581" cy="11157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833372" y="5714365"/>
            <a:ext cx="76581" cy="47955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909953" y="5762320"/>
            <a:ext cx="76581" cy="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986534" y="5762320"/>
            <a:ext cx="76580" cy="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063114" y="5714330"/>
            <a:ext cx="76582" cy="4799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2139696" y="5614622"/>
            <a:ext cx="76581" cy="9970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216277" y="5486327"/>
            <a:ext cx="76581" cy="128295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292858" y="5337363"/>
            <a:ext cx="76580" cy="14896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369438" y="5176251"/>
            <a:ext cx="76582" cy="16111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446020" y="5011661"/>
            <a:ext cx="76581" cy="16459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522601" y="4851973"/>
            <a:ext cx="76581" cy="15968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599182" y="4704873"/>
            <a:ext cx="76580" cy="14710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675762" y="4577010"/>
            <a:ext cx="76582" cy="12786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752344" y="4473721"/>
            <a:ext cx="76581" cy="10328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828925" y="4398832"/>
            <a:ext cx="76581" cy="7488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905506" y="4354550"/>
            <a:ext cx="76581" cy="4428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982087" y="4341443"/>
            <a:ext cx="76581" cy="1310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058668" y="4341443"/>
            <a:ext cx="76580" cy="1705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135248" y="4358495"/>
            <a:ext cx="76581" cy="4474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211829" y="4403242"/>
            <a:ext cx="76582" cy="6873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288411" y="4471975"/>
            <a:ext cx="76580" cy="88015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364991" y="4559990"/>
            <a:ext cx="76581" cy="10188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441572" y="4661872"/>
            <a:ext cx="76581" cy="10993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3518153" y="4771808"/>
            <a:ext cx="76581" cy="11208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3594734" y="4883894"/>
            <a:ext cx="76581" cy="10854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3671315" y="4992436"/>
            <a:ext cx="76582" cy="9978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3747897" y="5092220"/>
            <a:ext cx="76580" cy="8652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3824477" y="5178747"/>
            <a:ext cx="76581" cy="6967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3901058" y="5248420"/>
            <a:ext cx="76581" cy="5025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640080" y="4050791"/>
            <a:ext cx="34290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5B6"/>
                </a:solidFill>
                <a:latin typeface="微软雅黑"/>
                <a:ea typeface="微软雅黑"/>
              </a:rPr>
              <a:t>小:爬得慢,还留着稳态误差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</a:rPr>
              <a:t>大:响应快、误差小,但超调震荡;过大致失稳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343400" y="123444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416552" y="1280160"/>
            <a:ext cx="3429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Ki 增大:消静差,但超调↗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4754880" y="1600200"/>
            <a:ext cx="0" cy="2057399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4754880" y="3657599"/>
            <a:ext cx="3063239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4754880" y="2382011"/>
            <a:ext cx="3063239" cy="0"/>
          </a:xfrm>
          <a:prstGeom prst="line">
            <a:avLst/>
          </a:prstGeom>
          <a:ln w="15240">
            <a:solidFill>
              <a:srgbClr val="59595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7315199" y="2144268"/>
            <a:ext cx="5486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95959"/>
                </a:solidFill>
                <a:latin typeface="微软雅黑"/>
                <a:ea typeface="微软雅黑"/>
              </a:rPr>
              <a:t>目标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4754880" y="3657599"/>
            <a:ext cx="76581" cy="13489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4831461" y="3792496"/>
            <a:ext cx="76581" cy="11904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4908042" y="3911543"/>
            <a:ext cx="76581" cy="10505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4984623" y="4016601"/>
            <a:ext cx="76581" cy="9271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061204" y="4109314"/>
            <a:ext cx="76581" cy="8181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5137785" y="4191133"/>
            <a:ext cx="76581" cy="7220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5214366" y="4263338"/>
            <a:ext cx="76581" cy="6372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5290947" y="4327059"/>
            <a:ext cx="76581" cy="5623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5367528" y="4383292"/>
            <a:ext cx="76580" cy="4962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5444108" y="4432918"/>
            <a:ext cx="76582" cy="4379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5520690" y="4476713"/>
            <a:ext cx="76581" cy="3864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5597271" y="4515361"/>
            <a:ext cx="76581" cy="3410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673852" y="4549469"/>
            <a:ext cx="76581" cy="3009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5750433" y="4579568"/>
            <a:ext cx="76581" cy="2656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5827014" y="4606131"/>
            <a:ext cx="76581" cy="2344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5903595" y="4629573"/>
            <a:ext cx="76581" cy="2068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5980176" y="4650260"/>
            <a:ext cx="76580" cy="1825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6056756" y="4668516"/>
            <a:ext cx="76582" cy="1611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6133338" y="4684627"/>
            <a:ext cx="76581" cy="1421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6209919" y="4698845"/>
            <a:ext cx="76581" cy="1254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6286500" y="4711393"/>
            <a:ext cx="76580" cy="1107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6363080" y="4722466"/>
            <a:ext cx="76582" cy="977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6439662" y="4732238"/>
            <a:ext cx="76580" cy="862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6516242" y="4740861"/>
            <a:ext cx="76581" cy="761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6592823" y="4748472"/>
            <a:ext cx="76581" cy="671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6669404" y="4755188"/>
            <a:ext cx="76582" cy="592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745986" y="4761115"/>
            <a:ext cx="76581" cy="523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6822567" y="4766345"/>
            <a:ext cx="76580" cy="461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6899147" y="4770961"/>
            <a:ext cx="76581" cy="4074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6975728" y="4775035"/>
            <a:ext cx="76581" cy="359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7052309" y="4778630"/>
            <a:ext cx="76581" cy="317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7128890" y="4781802"/>
            <a:ext cx="76581" cy="280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7205471" y="4784602"/>
            <a:ext cx="76581" cy="247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7282052" y="4787073"/>
            <a:ext cx="76581" cy="218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7358633" y="4789253"/>
            <a:ext cx="76582" cy="1924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7435215" y="4791177"/>
            <a:ext cx="76581" cy="169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7511796" y="4792875"/>
            <a:ext cx="76580" cy="149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7588376" y="4794374"/>
            <a:ext cx="76581" cy="132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7664957" y="4795696"/>
            <a:ext cx="76581" cy="116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7741538" y="4796863"/>
            <a:ext cx="76581" cy="103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4754880" y="3657599"/>
            <a:ext cx="76581" cy="930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4831461" y="3666906"/>
            <a:ext cx="76581" cy="2625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4908042" y="3693163"/>
            <a:ext cx="76581" cy="4076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4984623" y="3733930"/>
            <a:ext cx="76581" cy="5292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5061204" y="3786855"/>
            <a:ext cx="76581" cy="6284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5137785" y="3849700"/>
            <a:ext cx="76581" cy="7065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5214366" y="3920359"/>
            <a:ext cx="76581" cy="7651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5290947" y="3996870"/>
            <a:ext cx="76581" cy="80556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5367528" y="4077426"/>
            <a:ext cx="76580" cy="8295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5444108" y="4160384"/>
            <a:ext cx="76582" cy="83883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5520690" y="4244267"/>
            <a:ext cx="76581" cy="83496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5597271" y="4327763"/>
            <a:ext cx="76581" cy="81964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5673852" y="4409727"/>
            <a:ext cx="76581" cy="7944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5750433" y="4489176"/>
            <a:ext cx="76581" cy="7610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5827014" y="4565281"/>
            <a:ext cx="76581" cy="7208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5903595" y="4637363"/>
            <a:ext cx="76581" cy="6752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980176" y="4704883"/>
            <a:ext cx="76580" cy="6254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6056756" y="4767432"/>
            <a:ext cx="76582" cy="5729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6133338" y="4824724"/>
            <a:ext cx="76581" cy="5185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6209919" y="4876581"/>
            <a:ext cx="76581" cy="46344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6286500" y="4922925"/>
            <a:ext cx="76580" cy="4084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6363080" y="4963765"/>
            <a:ext cx="76582" cy="35426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6439662" y="4999191"/>
            <a:ext cx="76580" cy="30164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6516242" y="5029355"/>
            <a:ext cx="76581" cy="25114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6592823" y="5054469"/>
            <a:ext cx="76581" cy="2031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6669404" y="5074788"/>
            <a:ext cx="76582" cy="1582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6745986" y="5090609"/>
            <a:ext cx="76581" cy="11643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6822567" y="5102252"/>
            <a:ext cx="76580" cy="781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6899147" y="5110062"/>
            <a:ext cx="76581" cy="433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6975728" y="5114393"/>
            <a:ext cx="76581" cy="1216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7052309" y="5114071"/>
            <a:ext cx="76581" cy="153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7128890" y="5110136"/>
            <a:ext cx="76581" cy="393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7205471" y="5104155"/>
            <a:ext cx="76581" cy="598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7282052" y="5096460"/>
            <a:ext cx="76581" cy="769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7358633" y="5087372"/>
            <a:ext cx="76582" cy="908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7435215" y="5077190"/>
            <a:ext cx="76581" cy="1018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7511796" y="5066192"/>
            <a:ext cx="76580" cy="1099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7588376" y="5054635"/>
            <a:ext cx="76581" cy="1155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7664957" y="5042753"/>
            <a:ext cx="76581" cy="1188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7741538" y="5030754"/>
            <a:ext cx="76581" cy="1199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4754880" y="3657599"/>
            <a:ext cx="76581" cy="2231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4831461" y="3679912"/>
            <a:ext cx="76581" cy="6499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4908042" y="3744902"/>
            <a:ext cx="76581" cy="10373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4984623" y="3848639"/>
            <a:ext cx="76581" cy="13735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5061204" y="3985997"/>
            <a:ext cx="76581" cy="16488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5137785" y="4150886"/>
            <a:ext cx="76581" cy="18560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5214366" y="4336495"/>
            <a:ext cx="76581" cy="19906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5290947" y="4535563"/>
            <a:ext cx="76581" cy="20508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5367528" y="4740643"/>
            <a:ext cx="76580" cy="20373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5444108" y="4944373"/>
            <a:ext cx="76582" cy="19535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5520690" y="5139725"/>
            <a:ext cx="76581" cy="18051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5597271" y="5320241"/>
            <a:ext cx="76581" cy="15998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5673852" y="5480227"/>
            <a:ext cx="76581" cy="13470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5750433" y="5614930"/>
            <a:ext cx="76581" cy="10573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5827014" y="5720660"/>
            <a:ext cx="76581" cy="4166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5903595" y="5762320"/>
            <a:ext cx="76581" cy="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5980176" y="5762320"/>
            <a:ext cx="76580" cy="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6056756" y="5762320"/>
            <a:ext cx="76582" cy="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6133338" y="5762320"/>
            <a:ext cx="76581" cy="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6209919" y="5686938"/>
            <a:ext cx="76581" cy="7538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6286500" y="5583444"/>
            <a:ext cx="76580" cy="10349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6363080" y="5461410"/>
            <a:ext cx="76582" cy="12203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6439662" y="5325805"/>
            <a:ext cx="76580" cy="135605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6516242" y="5181873"/>
            <a:ext cx="76581" cy="14393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6592823" y="5034942"/>
            <a:ext cx="76581" cy="146931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6669404" y="4890237"/>
            <a:ext cx="76582" cy="144705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6745986" y="4752698"/>
            <a:ext cx="76581" cy="13753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6822567" y="4626825"/>
            <a:ext cx="76580" cy="12587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6899147" y="4516533"/>
            <a:ext cx="76581" cy="11029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6975728" y="4425046"/>
            <a:ext cx="76581" cy="9148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7052309" y="4354804"/>
            <a:ext cx="76581" cy="7024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7128890" y="4307416"/>
            <a:ext cx="76581" cy="4738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7205471" y="4283633"/>
            <a:ext cx="76581" cy="2378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7282052" y="4283355"/>
            <a:ext cx="76581" cy="27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7358633" y="4283355"/>
            <a:ext cx="76582" cy="22315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7435215" y="4305670"/>
            <a:ext cx="76581" cy="4324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7511796" y="4348918"/>
            <a:ext cx="76580" cy="6185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7588376" y="4410774"/>
            <a:ext cx="76581" cy="77585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7664957" y="4488359"/>
            <a:ext cx="76581" cy="9000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7741538" y="4578361"/>
            <a:ext cx="76581" cy="9880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9" name="TextBox 258"/>
          <p:cNvSpPr txBox="1"/>
          <p:nvPr/>
        </p:nvSpPr>
        <p:spPr>
          <a:xfrm>
            <a:off x="4480560" y="4050791"/>
            <a:ext cx="34290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5B6"/>
                </a:solidFill>
                <a:latin typeface="微软雅黑"/>
                <a:ea typeface="微软雅黑"/>
              </a:rPr>
              <a:t>无:永远差一点(重心偏→悬停歪着)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</a:rPr>
              <a:t>大:消差猛但刹车不住,来回摆</a:t>
            </a:r>
          </a:p>
        </p:txBody>
      </p:sp>
      <p:sp>
        <p:nvSpPr>
          <p:cNvPr id="260" name="Rounded Rectangle 259"/>
          <p:cNvSpPr/>
          <p:nvPr/>
        </p:nvSpPr>
        <p:spPr>
          <a:xfrm>
            <a:off x="8183879" y="123444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8257031" y="1280160"/>
            <a:ext cx="3429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Kd 增大:阻尼,超调↓</a:t>
            </a:r>
          </a:p>
        </p:txBody>
      </p:sp>
      <p:cxnSp>
        <p:nvCxnSpPr>
          <p:cNvPr id="262" name="Connector 261"/>
          <p:cNvCxnSpPr/>
          <p:nvPr/>
        </p:nvCxnSpPr>
        <p:spPr>
          <a:xfrm>
            <a:off x="8595359" y="1600200"/>
            <a:ext cx="0" cy="2057399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8595359" y="3657599"/>
            <a:ext cx="306324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8595359" y="2382011"/>
            <a:ext cx="3063240" cy="0"/>
          </a:xfrm>
          <a:prstGeom prst="line">
            <a:avLst/>
          </a:prstGeom>
          <a:ln w="15240">
            <a:solidFill>
              <a:srgbClr val="59595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5" name="TextBox 264"/>
          <p:cNvSpPr txBox="1"/>
          <p:nvPr/>
        </p:nvSpPr>
        <p:spPr>
          <a:xfrm>
            <a:off x="11155679" y="2144268"/>
            <a:ext cx="5486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95959"/>
                </a:solidFill>
                <a:latin typeface="微软雅黑"/>
                <a:ea typeface="微软雅黑"/>
              </a:rPr>
              <a:t>目标</a:t>
            </a:r>
          </a:p>
        </p:txBody>
      </p:sp>
      <p:cxnSp>
        <p:nvCxnSpPr>
          <p:cNvPr id="266" name="Connector 265"/>
          <p:cNvCxnSpPr/>
          <p:nvPr/>
        </p:nvCxnSpPr>
        <p:spPr>
          <a:xfrm>
            <a:off x="8595359" y="3657599"/>
            <a:ext cx="76581" cy="2560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8671940" y="3683202"/>
            <a:ext cx="76582" cy="7346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8748522" y="3756671"/>
            <a:ext cx="76581" cy="11518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8825103" y="3871856"/>
            <a:ext cx="76581" cy="14951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8901684" y="4021366"/>
            <a:ext cx="76580" cy="17558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8978264" y="4196948"/>
            <a:ext cx="76581" cy="192924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9054845" y="4389872"/>
            <a:ext cx="76581" cy="20144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9131426" y="4591312"/>
            <a:ext cx="76581" cy="20138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9208007" y="4792698"/>
            <a:ext cx="76581" cy="19334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9284588" y="4986043"/>
            <a:ext cx="76581" cy="17817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9361169" y="5164220"/>
            <a:ext cx="76582" cy="15696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9437751" y="5321185"/>
            <a:ext cx="76580" cy="13095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9514331" y="5452142"/>
            <a:ext cx="76581" cy="10151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9590912" y="5553654"/>
            <a:ext cx="76581" cy="7003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9667493" y="5623684"/>
            <a:ext cx="76581" cy="3789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9744074" y="5661582"/>
            <a:ext cx="76581" cy="6434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9820655" y="5644858"/>
            <a:ext cx="76581" cy="2315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9897236" y="5595027"/>
            <a:ext cx="76581" cy="4983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9973817" y="5522305"/>
            <a:ext cx="76582" cy="7272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10050399" y="5431123"/>
            <a:ext cx="76581" cy="9118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10126980" y="5326349"/>
            <a:ext cx="76580" cy="104774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10203560" y="5213058"/>
            <a:ext cx="76581" cy="11329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10280141" y="5096321"/>
            <a:ext cx="76581" cy="11673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10356722" y="4981003"/>
            <a:ext cx="76581" cy="11531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10433303" y="4871585"/>
            <a:ext cx="76581" cy="10941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10509884" y="4772008"/>
            <a:ext cx="76581" cy="9957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10586465" y="4685558"/>
            <a:ext cx="76582" cy="8645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10663047" y="4614779"/>
            <a:ext cx="76580" cy="7077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10739627" y="4561418"/>
            <a:ext cx="76581" cy="5336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10816208" y="4526417"/>
            <a:ext cx="76581" cy="3500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10892789" y="4509922"/>
            <a:ext cx="76581" cy="1649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10969370" y="4509922"/>
            <a:ext cx="76581" cy="141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11045951" y="4511337"/>
            <a:ext cx="76581" cy="1805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11122532" y="4529394"/>
            <a:ext cx="76581" cy="3285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11199113" y="4562253"/>
            <a:ext cx="76581" cy="4535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11275694" y="4607608"/>
            <a:ext cx="76582" cy="5520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11352276" y="4662816"/>
            <a:ext cx="76580" cy="6220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11428856" y="4725019"/>
            <a:ext cx="76581" cy="6625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11505437" y="4791277"/>
            <a:ext cx="76581" cy="6740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11582018" y="4858686"/>
            <a:ext cx="76581" cy="6580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8595359" y="3657599"/>
            <a:ext cx="76581" cy="923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8671940" y="3666831"/>
            <a:ext cx="76582" cy="2540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8748522" y="3692233"/>
            <a:ext cx="76581" cy="38416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8825103" y="3730649"/>
            <a:ext cx="76581" cy="4864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8901684" y="3779290"/>
            <a:ext cx="76580" cy="56413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8978264" y="3835703"/>
            <a:ext cx="76581" cy="6205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9054845" y="3897753"/>
            <a:ext cx="76581" cy="6583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9131426" y="3963592"/>
            <a:ext cx="76581" cy="6805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9208007" y="4031643"/>
            <a:ext cx="76581" cy="68923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9284588" y="4100566"/>
            <a:ext cx="76581" cy="6867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9361169" y="4169245"/>
            <a:ext cx="76582" cy="67513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9437751" y="4236758"/>
            <a:ext cx="76580" cy="6560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9514331" y="4302359"/>
            <a:ext cx="76581" cy="6310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9590912" y="4365459"/>
            <a:ext cx="76581" cy="6014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9667493" y="4425606"/>
            <a:ext cx="76581" cy="5686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9744074" y="4482466"/>
            <a:ext cx="76581" cy="5334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9820655" y="4535811"/>
            <a:ext cx="76581" cy="4968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9897236" y="4585500"/>
            <a:ext cx="76581" cy="4596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9973817" y="4631469"/>
            <a:ext cx="76582" cy="4224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0050399" y="4673717"/>
            <a:ext cx="76581" cy="3857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10126980" y="4712294"/>
            <a:ext cx="76580" cy="3500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0203560" y="4747296"/>
            <a:ext cx="76581" cy="3155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0280141" y="4778848"/>
            <a:ext cx="76581" cy="2825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10356722" y="4807106"/>
            <a:ext cx="76581" cy="2513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0433303" y="4832244"/>
            <a:ext cx="76581" cy="22203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10509884" y="4854447"/>
            <a:ext cx="76581" cy="1946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10586465" y="4873914"/>
            <a:ext cx="76582" cy="1692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10663047" y="4890843"/>
            <a:ext cx="76580" cy="14594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10739627" y="4905437"/>
            <a:ext cx="76581" cy="1245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10816208" y="4917895"/>
            <a:ext cx="76581" cy="1051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10892789" y="4928412"/>
            <a:ext cx="76581" cy="8764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10969370" y="4937176"/>
            <a:ext cx="76581" cy="719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11045951" y="4944368"/>
            <a:ext cx="76581" cy="579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11122532" y="4950158"/>
            <a:ext cx="76581" cy="455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11199113" y="4954708"/>
            <a:ext cx="76581" cy="346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11275694" y="4958169"/>
            <a:ext cx="76582" cy="251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11352276" y="4960681"/>
            <a:ext cx="76580" cy="169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11428856" y="4962372"/>
            <a:ext cx="76581" cy="98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11505437" y="4963361"/>
            <a:ext cx="76581" cy="394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V="1">
            <a:off x="11582018" y="4963653"/>
            <a:ext cx="76581" cy="10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8595359" y="3657599"/>
            <a:ext cx="76581" cy="10940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8671940" y="3767002"/>
            <a:ext cx="76582" cy="3850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8748522" y="3805510"/>
            <a:ext cx="76581" cy="1530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8825103" y="3820816"/>
            <a:ext cx="76581" cy="6415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8901684" y="3884973"/>
            <a:ext cx="76580" cy="97535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8978264" y="3982508"/>
            <a:ext cx="76581" cy="6193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9054845" y="4044447"/>
            <a:ext cx="76581" cy="1503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9131426" y="4059480"/>
            <a:ext cx="76581" cy="2510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9208007" y="4084584"/>
            <a:ext cx="76581" cy="6620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9284588" y="4150788"/>
            <a:ext cx="76581" cy="6857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9361169" y="4219366"/>
            <a:ext cx="76582" cy="2961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9437751" y="4248980"/>
            <a:ext cx="76580" cy="990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9514331" y="4258887"/>
            <a:ext cx="76581" cy="3390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9590912" y="4292787"/>
            <a:ext cx="76581" cy="5704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9667493" y="4349829"/>
            <a:ext cx="76581" cy="4147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9744074" y="4391299"/>
            <a:ext cx="76581" cy="12651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9820655" y="4403950"/>
            <a:ext cx="76581" cy="1329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9897236" y="4417249"/>
            <a:ext cx="76581" cy="3654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9973817" y="4453796"/>
            <a:ext cx="76582" cy="4217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10050399" y="4495974"/>
            <a:ext cx="76581" cy="21551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10126980" y="4517525"/>
            <a:ext cx="76580" cy="698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10203560" y="4524512"/>
            <a:ext cx="76581" cy="1792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10280141" y="4542435"/>
            <a:ext cx="76581" cy="3293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10356722" y="4575367"/>
            <a:ext cx="76581" cy="2702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10433303" y="4602394"/>
            <a:ext cx="76581" cy="997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10509884" y="4612367"/>
            <a:ext cx="76581" cy="7391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10586465" y="4619758"/>
            <a:ext cx="76582" cy="20021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10663047" y="4639779"/>
            <a:ext cx="76580" cy="2551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10739627" y="4665296"/>
            <a:ext cx="76581" cy="1505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10816208" y="4680354"/>
            <a:ext cx="76581" cy="513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10892789" y="4685486"/>
            <a:ext cx="76581" cy="954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10969370" y="4695035"/>
            <a:ext cx="76581" cy="18801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11045951" y="4713836"/>
            <a:ext cx="76581" cy="1722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11122532" y="4731060"/>
            <a:ext cx="76581" cy="747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>
            <a:off x="11199113" y="4738537"/>
            <a:ext cx="76581" cy="4355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11275694" y="4742892"/>
            <a:ext cx="76582" cy="1091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>
            <a:off x="11352276" y="4753808"/>
            <a:ext cx="76580" cy="1521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11428856" y="4769024"/>
            <a:ext cx="76581" cy="1019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11505437" y="4779216"/>
            <a:ext cx="76581" cy="379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11582018" y="4783013"/>
            <a:ext cx="76581" cy="5171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6" name="TextBox 385"/>
          <p:cNvSpPr txBox="1"/>
          <p:nvPr/>
        </p:nvSpPr>
        <p:spPr>
          <a:xfrm>
            <a:off x="8321040" y="4050791"/>
            <a:ext cx="34290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5B6"/>
                </a:solidFill>
                <a:latin typeface="微软雅黑"/>
                <a:ea typeface="微软雅黑"/>
              </a:rPr>
              <a:t>小:冲过头才回,震荡几拍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</a:rPr>
              <a:t>大:过于敏感,噪声被微分放大(红色毛刺)</a:t>
            </a:r>
          </a:p>
        </p:txBody>
      </p:sp>
      <p:sp>
        <p:nvSpPr>
          <p:cNvPr id="387" name="Rounded Rectangle 386"/>
          <p:cNvSpPr/>
          <p:nvPr/>
        </p:nvSpPr>
        <p:spPr>
          <a:xfrm>
            <a:off x="502920" y="5257800"/>
            <a:ext cx="11292840" cy="109728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读图整定:先加 Kp 到'快而略震'(绿) → 加 Kd 把超调压掉 → 最后小 Ki 收静差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口诀:P 定快慢,D 定稳不稳,I 定准不准;一项一项动,每次只动一个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串级 PID 实现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角度环 P + 角速度环 PID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目标角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±30°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角度环 P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×6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期望角速度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限±200°/s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角速度环 PID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200Hz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1268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力矩 ±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R/P/Y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40280" y="1554480"/>
            <a:ext cx="64008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17720" y="1554480"/>
            <a:ext cx="64008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995160" y="1554480"/>
            <a:ext cx="64008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72600" y="1554480"/>
            <a:ext cx="64008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43200" y="196596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2E75B6"/>
                </a:solidFill>
                <a:latin typeface="微软雅黑"/>
                <a:ea typeface="微软雅黑"/>
              </a:rPr>
              <a:t>e = 目标角−姿态角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965960"/>
            <a:ext cx="2194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ED7D31"/>
                </a:solidFill>
                <a:latin typeface="微软雅黑"/>
                <a:ea typeface="微软雅黑"/>
              </a:rPr>
              <a:t>e = 期望−实测ω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2920" y="25146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22960"/>
                <a:gridCol w="34747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参数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值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作用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kp_angle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6.0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角度差→期望角速度(姿态自稳刚度)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kp_rate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0.15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角速度误差→力矩(阻尼)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ki_rate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2.0 /s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消除恒值扰动(重心偏/风)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kd_rate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0.005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角速度变化率的阻尼(抑震荡)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02920" y="4800600"/>
            <a:ext cx="5486400" cy="15544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为什么串级?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单级角度PID:姿态已经错了才大力纠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内环以200Hz锁死角速度,扰动在'变成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   姿态错误'前就被吸收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ED7D31"/>
                </a:solidFill>
                <a:latin typeface="微软雅黑"/>
                <a:ea typeface="微软雅黑"/>
              </a:rPr>
              <a:t>▸ yaw 无角度外环(无磁力计,航向不可观)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514600"/>
            <a:ext cx="5486400" cy="38404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C00000"/>
                </a:solidFill>
                <a:latin typeface="微软雅黑"/>
                <a:ea typeface="微软雅黑"/>
              </a:rPr>
              <a:t>三个工程细节(踩坑修复项)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① 积分 ×dt:离散积分量纲归一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I_out = ki·Σ(e·dt),不随控制频率变义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② 抗饱和 = 输出限幅 + 回算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I 项权限钳 ±0.15(15%油门),超限回写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③ D 项用测量值微分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d(−gyro)/dt 而非 d(err)/dt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→ 打杆瞬间无 derivative kick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X 型混控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把第二章的力矩公式变成代码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5120640" cy="4023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595959"/>
                </a:solidFill>
                <a:latin typeface="微软雅黑"/>
                <a:ea typeface="微软雅黑"/>
              </a:rPr>
              <a:t>M2 前左(逆)      M1 前右(顺)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微软雅黑"/>
                <a:ea typeface="微软雅黑"/>
              </a:rPr>
              <a:t>      ╲            ╱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微软雅黑"/>
                <a:ea typeface="微软雅黑"/>
              </a:rPr>
              <a:t>        ╲        ╱</a:t>
            </a:r>
          </a:p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           ╳   机头↑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微软雅黑"/>
                <a:ea typeface="微软雅黑"/>
              </a:rPr>
              <a:t>        ╱        ╲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微软雅黑"/>
                <a:ea typeface="微软雅黑"/>
              </a:rPr>
              <a:t>      ╱            ╲</a:t>
            </a:r>
          </a:p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595959"/>
                </a:solidFill>
                <a:latin typeface="微软雅黑"/>
                <a:ea typeface="微软雅黑"/>
              </a:rPr>
              <a:t>M3 后左(顺)      M4 后右(逆)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25880"/>
            <a:ext cx="5486400" cy="2286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混控矩阵 (T=油门, R/P/Y=力矩)</a:t>
            </a:r>
          </a:p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M1 = T + P − R − Y      M2 = T + P + R + Y</a:t>
            </a:r>
          </a:p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M3 = T − P + R − Y      M4 = T − P − R + Y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各路 clamp [0,1] 后写 TIM3 CCR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3794760"/>
            <a:ext cx="5486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E7D32"/>
                </a:solidFill>
                <a:latin typeface="微软雅黑"/>
                <a:ea typeface="微软雅黑"/>
              </a:rPr>
              <a:t>对照受力页:+R=左桨加速(右滚) +P=前桨加速(抬头)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4343400"/>
            <a:ext cx="5486400" cy="201168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共模/差模视角(关键)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油门 = 共模:四桨同增减 → 只变总推力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力矩 = 差模:对角互补,和为零 → 只变力矩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▸ 二者近似正交 → 高度环与姿态环解耦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5120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C00000"/>
                </a:solidFill>
                <a:latin typeface="微软雅黑"/>
                <a:ea typeface="微软雅黑"/>
              </a:rPr>
              <a:t>⚠ 首飞前必台架验证:通道映射与桨向(拆桨!)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飞行状态机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五个状态,核心是'油门归谁管'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IDLE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上电/急停后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电机停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88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DISARMED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已解锁,油门&lt;5%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电机停,等推杆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46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4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FOLLOW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油门&gt;5%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油门直接跟杆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60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HOVER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松杆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az闭环悬停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418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46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LANDING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收油/超时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匀速缓降-0.3/s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704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554480" y="2651760"/>
            <a:ext cx="10241280" cy="0"/>
          </a:xfrm>
          <a:prstGeom prst="line">
            <a:avLst/>
          </a:prstGeom>
          <a:ln w="25400">
            <a:solidFill>
              <a:srgbClr val="ED7D31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554480" y="2606040"/>
            <a:ext cx="0" cy="45720"/>
          </a:xfrm>
          <a:prstGeom prst="line">
            <a:avLst/>
          </a:prstGeom>
          <a:ln w="25400">
            <a:solidFill>
              <a:srgbClr val="ED7D31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114800" y="2697480"/>
            <a:ext cx="4572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ED7D31"/>
                </a:solidFill>
                <a:latin typeface="微软雅黑"/>
                <a:ea typeface="微软雅黑"/>
              </a:rPr>
              <a:t>落地自动上锁 → IDLE(任意时刻可被急停拉回)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83280"/>
            <a:ext cx="5486400" cy="29260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迁移规则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解锁+推油门&gt;5% → FOLLOW 起飞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松杆 → HOVER:保留当前油门为闭环起点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HOVER 满 3s → 自动缓降(独立计时器)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再推杆 → 从 HOVER 抢回 FOLLOW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落地(油门降到0) → 自动上锁回 IDLE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383280"/>
            <a:ext cx="5486400" cy="29260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操作者视角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姿态杆任何飞行状态都有效(姿态环常开)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▸ 唯一时序规则:'松杆3秒必降落'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悬停中打杆平移,az环自动补倾角掉高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落地自动 disarm,不会'落地又窜起'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七级安全链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每 5ms 自上而下短路评估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554480"/>
                <a:gridCol w="2286000"/>
                <a:gridCol w="1371600"/>
                <a:gridCol w="52120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检查项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触发条件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动作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设计考量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急停锁存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emergency 标志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电机立即停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上锁才能清除,防误触恢复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未解锁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!armed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电机停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上电锁:双重防线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2.5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数据有效性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NaN/Inf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立即急停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NaN 比较恒假,会绕过一切保护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姿态超限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|角|&gt;45° 持续200ms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急停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去抖防单帧噪声误杀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失控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1s 无指令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转缓降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不直接停机(半空断电=摔)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悬停超时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HOVER 满 3s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转缓降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无高度计,限制久悬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姿态丢失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0.5s 无新姿态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急停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防电机冻结在最后占空比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看门狗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IWDG 1s 未喂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芯片复位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任务卡死兜底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49240"/>
            <a:ext cx="11247120" cy="96012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设计原则:失效安全逐级降级 —— 能缓降不悬停,能悬停不停机,该停机绝不犹豫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三环如何协同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呼应受力分析:推力方向 vs 大小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394960" cy="96012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az 环(慢环):管推力大小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积分式调油门 ≤0.4油门/s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63240"/>
            <a:ext cx="5394960" cy="96012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姿态环→角速度环(快环):管推力方向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200Hz,毫秒级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2103120" cy="10515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Mixer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共模‖差模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2103120"/>
            <a:ext cx="2651760" cy="105156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595959"/>
                </a:solidFill>
                <a:latin typeface="微软雅黑"/>
                <a:ea typeface="微软雅黑"/>
              </a:rPr>
              <a:t>4×电机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PWM 4kHz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2194560"/>
            <a:ext cx="3200400" cy="18288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3200400" y="2926080"/>
            <a:ext cx="3200400" cy="64008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03920" y="2624328"/>
            <a:ext cx="54864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212080" y="178308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D32"/>
                </a:solidFill>
                <a:latin typeface="微软雅黑"/>
                <a:ea typeface="微软雅黑"/>
              </a:rPr>
              <a:t>油门T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65760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ED7D31"/>
                </a:solidFill>
                <a:latin typeface="微软雅黑"/>
                <a:ea typeface="微软雅黑"/>
              </a:rPr>
              <a:t>力矩R/P/Y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72000"/>
            <a:ext cx="11292840" cy="17830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C00000"/>
                </a:solidFill>
                <a:latin typeface="微软雅黑"/>
                <a:ea typeface="微软雅黑"/>
              </a:rPr>
              <a:t>三条真实耦合通路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① 倾角→升力损失:垂直升力×cosθ → az环被动补油门(悬停压坡不掉高,有利)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② 电机饱和抢权限:油门贴 0.85/0.30 边界时姿态差动被削 → 预留15%余量(待做去饱和)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③ 估计误差串扰:az 由姿态四元数算出,姿态不准→az不准(二阶小量)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通信协议设计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帧五要素 + 逐字节状态机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0xA5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STX 定界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460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CMD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命令字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LEN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长度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DATA 0~16B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小端float32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ED7D31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XOR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校验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1268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0x5A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ETX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606040"/>
            <a:ext cx="5486400" cy="32918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帧设计原则(任何二进制协议通用)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① 定界符:流中找帧头(允许丢字节重同步)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② 长度:先读长度再收数据,防粘包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③ 校验:XOR/CRC 检错,失败整帧丢弃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④ 帧尾:独立校验,防'校验值恰好=帧尾'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⑤ 数据带范围与 isfinite 校验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ISR 只入队,任务里解析(中断要短)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606040"/>
            <a:ext cx="5303520" cy="32918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逐字节状态机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IDLE → CMD → LEN → DATA → CHK → ETX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任何一步非法 → 回 IDLE 重新找帧头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天然处理:断流/粘包/半帧/误码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常用命令示例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0x40 SETPOINT: 4×float (T/roll/pitch/yaw)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0x24 ARM: 1字节   0x20: 急停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BDD7EE"/>
                </a:solidFill>
                <a:latin typeface="微软雅黑"/>
                <a:ea typeface="微软雅黑"/>
              </a:rPr>
              <a:t>受力与扭矩 · IMU · 姿态解算 · 控制 —— 每一块都可以往深了聊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</a:rPr>
              <a:t>谢谢聆听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8EAADB"/>
                </a:solidFill>
                <a:latin typeface="微软雅黑"/>
                <a:ea typeface="微软雅黑"/>
              </a:rPr>
              <a:t>代码: github.com/xiexiaoan147-cyber/STM32F4_Drone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