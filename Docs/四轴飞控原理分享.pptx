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开场定调:今天从'机身到底受什么力'讲起,一路讲到姿态解算和控制——每一层都回答'为什么'。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一切从单电机开始:它给机身两个作用——沿机身轴的推力+反着桨转向的反扭矩。平方律和'交替桨向'两点是后面混控与yaw控制的物理基础。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本页是全场地基:左边四个公式+两条方程就是四轴全部动力学;右图讲欠驱动——想平移只能倾斜,所以'控制姿态=间接控制水平运动'。底部级联图告诉我们项目实现的姿态环在整条链的哪一段。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回顾路线:刚讲完飞机为什么能飞,接下来讲'我们怎么知道它现在的姿态'(IMU+解算),最后讲'怎么控制'(PID)。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图解:静止时质量块只是上下振动;一旋转就被科氏力推向一侧,梳齿电容变化——测偏移即测角速度。三个特点层层递进,引出加速度计。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电梯类比讲比力:超重失重时秤变了,重力没变——加速度计就是秤。静止时输出即重力方向,所以能当倾角计;一动就脏。两个结论为融合做铺垫。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这张图是姿态解算的动机:绿色加计低频可信,蓝色陀螺高频可信。互补滤波=各干各擅长的频段。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姿态=两个坐标系之间的旋转,这句话立住了后面全通。万向节锁就讲'两次旋转撞到同一根轴'。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降低恐惧:四元数工程用法三招。左图轴角直觉,右盒是项目真正在跑的全部公式。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全景图:主链路是上面一行;加计从左进来,经叉积得误差,PI后'拧'陀螺——注意不是直接改q,而是修正角速度再积分,这是Mahony优雅之处。比喻:陀螺反应快但越走越歪,加计慢半拍但永远知道下方在哪。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四步循环讲,每步配一句人话。第②步是灵魂,下一页专门拆。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回答'叉积凭什么能当误差':几何上它同时给了'歪了多少'和'往哪边转回去'。右下是升华:Ki 项本质是在线零偏估计器——这就是为什么 Mahony 对校准残差不敏感。yaw 不可观也要交代。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公式到代码的最后一公里:四行标量式与仓库 mahony.c 逐行对应;'旧q'是经典错;归一化和asin钳位都是防 NaN 的防线。三个翻车点全是我们真实踩过的。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需求反推传感器:想要定高→没有高度计→退而求其次用加速度。坦诚局限。转置矩阵坑在此重提,呼应'对着标准式逐项核对'。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三个实操问题:门限、调参判据、滤波取舍——看完原理后真正上手会问的三件事。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原理讲完落回工程:四任务流水线对应前面四层。重点讲队列解耦和I2C单一拥有者。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'现在/过去/未来'讲本质;副作用列是工程取舍;右下两个细节衔接下页实现。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呼应动力学页:角速度环的输出就是那三轴力矩。三个工程细节都是真实修过的坑。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这页矩阵就是受力分析页四个公式的直接翻译:差动出力矩、共模出推力。共模/差模正交性呼应三环协同页。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状态机一句话:油门归属权切换,姿态永远归PID。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每条保护都有'为什么':NaN绕过一切if、单帧噪声不能停机、半空断电比缓降危险。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把开场受力分析闭环:姿态环管'推力指哪',az环管'推力多大',混控的正交性让两者近似不打架。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协议五要素是通用方法论;状态机解析可展开讲重同步。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收尾:主动开放提问方向——叉积误差的几何、四元数积分、串级整定都可以聊。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四轴飞控:把原理讲透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BDD7EE"/>
                </a:solidFill>
                <a:latin typeface="微软雅黑"/>
                <a:ea typeface="微软雅黑"/>
              </a:rPr>
              <a:t>从机身受力到姿态解算:飞机为什么能这么飞,代码为什么这么写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一次偏原理的技术分享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主讲:____ · 2026-08 · 配套代码 github.com/xiexiaoan147-cyber/STM32F4_Drone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机身受力与扭矩①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每个电机给机身两个作用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1206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俯视一个电机:桨盘 + 旋转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2057400"/>
            <a:ext cx="1920240" cy="1920240"/>
          </a:xfrm>
          <a:prstGeom prst="ellipse">
            <a:avLst/>
          </a:prstGeom>
          <a:noFill/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ircular Arrow 8"/>
          <p:cNvSpPr/>
          <p:nvPr/>
        </p:nvSpPr>
        <p:spPr>
          <a:xfrm>
            <a:off x="2651760" y="2606039"/>
            <a:ext cx="822960" cy="822960"/>
          </a:xfrm>
          <a:prstGeom prst="circular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240279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桨:顺时针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2926079"/>
            <a:ext cx="182880" cy="182880"/>
          </a:xfrm>
          <a:prstGeom prst="ellipse">
            <a:avLst/>
          </a:prstGeom>
          <a:noFill/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008376" y="2962656"/>
            <a:ext cx="109728" cy="109728"/>
          </a:xfrm>
          <a:prstGeom prst="line">
            <a:avLst/>
          </a:prstGeom>
          <a:ln w="1905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08376" y="2962656"/>
            <a:ext cx="109728" cy="109728"/>
          </a:xfrm>
          <a:prstGeom prst="line">
            <a:avLst/>
          </a:prstGeom>
          <a:ln w="1905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72968" y="2871215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微软雅黑"/>
                <a:ea typeface="微软雅黑"/>
              </a:rPr>
              <a:t>推力 T:沿机体 z 向上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91640" y="3840480"/>
            <a:ext cx="1051560" cy="0"/>
          </a:xfrm>
          <a:prstGeom prst="line">
            <a:avLst/>
          </a:prstGeom>
          <a:ln w="2794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ircular Arrow 15"/>
          <p:cNvSpPr/>
          <p:nvPr/>
        </p:nvSpPr>
        <p:spPr>
          <a:xfrm>
            <a:off x="1097280" y="3273552"/>
            <a:ext cx="502920" cy="502920"/>
          </a:xfrm>
          <a:prstGeom prst="circular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79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反扭矩 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C00000"/>
                </a:solidFill>
                <a:latin typeface="微软雅黑"/>
                <a:ea typeface="微软雅黑"/>
              </a:rPr>
              <a:t>与桨转向相反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推力 T = kt·ω²      反扭矩 M = km·ω²  (都随转速平方变)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280160"/>
            <a:ext cx="5852160" cy="320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1F3864"/>
                </a:solidFill>
                <a:latin typeface="微软雅黑"/>
                <a:ea typeface="微软雅黑"/>
              </a:rPr>
              <a:t>牛顿第三定律的礼物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电机拧着桨转 → 桨拧着空气转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空气反作用:给桨一个向上的升力,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   同时给机身一个反向扭矩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推力方向永远沿机体 z 轴(垂直机身)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▸ 转速 ×2 → 推力 ×4 (平方律!)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→ 油门与推力不是线性关系,调参时心里有数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11292840" cy="1600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X 布置:对角同桨向,相邻反桨向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M1 前右(顺) · M2 前左(逆) · M3 后左(顺) · M4 后右(逆)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为什么交替?四台全同向 → 反扭矩抵消不掉,机身会一直自旋;交替后正常飞行反扭矩互相抵消,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想要偏航时让'逆桨侧'多转 → 反扭矩出现净差 → 机头转动 (这是 yaw 的唯一来源)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机身受力与扭矩②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四个输入怎么变成运动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四个电机 = 四个转速 = 四个控制量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总推力  T = T1+T2+T3+T4   (四桨同增减 → 共模)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滚转力矩 τroll  = (左−右)·力臂   (左右差动)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俯仰力矩 τpitch = (前−后)·力臂   (前后差动)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偏航力矩 τyaw   = (逆−顺)·反扭矩差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5394960" cy="24688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两条动力学方程(全部物理就这两行)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平移: m·a = T·R(q)·ẑ机身 + mg  (牛二)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转动: I·ω̇ = τ  (角动量定理)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力矩改变的是'姿态',姿态改变的是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   '推力方向',推力方向才改变'运动'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6235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61872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侧视:想往前飞,只能先低头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19" y="3456432"/>
            <a:ext cx="1005840" cy="219456"/>
          </a:xfrm>
          <a:prstGeom prst="rect">
            <a:avLst/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863840" y="2710744"/>
            <a:ext cx="1921295" cy="855416"/>
          </a:xfrm>
          <a:prstGeom prst="line">
            <a:avLst/>
          </a:prstGeom>
          <a:ln w="2794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38831" y="2564440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785135" y="2152864"/>
            <a:ext cx="1253019" cy="557880"/>
          </a:xfrm>
          <a:prstGeom prst="line">
            <a:avLst/>
          </a:prstGeom>
          <a:ln w="381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608095" y="1476304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T 总推力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038154" y="1147024"/>
            <a:ext cx="0" cy="1005840"/>
          </a:xfrm>
          <a:prstGeom prst="line">
            <a:avLst/>
          </a:prstGeom>
          <a:ln w="22860">
            <a:solidFill>
              <a:srgbClr val="2E7D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38154" y="2152864"/>
            <a:ext cx="1051560" cy="0"/>
          </a:xfrm>
          <a:prstGeom prst="line">
            <a:avLst/>
          </a:prstGeom>
          <a:ln w="2794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49434" y="552664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微软雅黑"/>
                <a:ea typeface="微软雅黑"/>
              </a:rPr>
              <a:t>T·cosθ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托住重力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5314" y="2262592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T·sinθ → 前飞!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3840480"/>
            <a:ext cx="0" cy="685800"/>
          </a:xfrm>
          <a:prstGeom prst="line">
            <a:avLst/>
          </a:prstGeom>
          <a:ln w="2794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73567" y="40690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微软雅黑"/>
                <a:ea typeface="微软雅黑"/>
              </a:rPr>
              <a:t>mg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94760"/>
            <a:ext cx="5394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四轴没有水平推进器 → 平移的唯一办法:倾斜,让推力斜着指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17720"/>
            <a:ext cx="5623560" cy="16916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控制级联(本项目的位置)</a:t>
            </a:r>
          </a:p>
          <a:p>
            <a:pPr algn="l">
              <a:spcAft>
                <a:spcPts val="200"/>
              </a:spcAft>
            </a:pPr>
            <a:r>
              <a:rPr sz="3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想去哪(位置) → 需要加速度 → 需要姿态角+推力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→ 需要三轴力矩 → 电机差动   ←项目实现从这里往下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最上层'位置'交给人的手/未来的GPS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分享脉络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73736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ED7D31"/>
                </a:solidFill>
                <a:latin typeface="微软雅黑"/>
                <a:ea typeface="微软雅黑"/>
              </a:rPr>
              <a:t>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73736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飞行力学 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受力·扭矩·为什么控制姿态就是控制运动 (刚讲完)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761488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ED7D31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761488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IMU 工作原理 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陀螺仪 · 加速度计 · 为什么必须融合 (图解)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785616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ED7D31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785616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姿态解算 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四元数 · Mahony 框架·误差本质·数值细节 (重点)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4809744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ED7D31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809744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控制与实现 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PID · 串级 · 混控 · 状态机 · 安全链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IMU 原理① 陀螺仪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旋转让振动的东西受到侧向力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74320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① 静止:质量块被驱动上下振动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880360"/>
            <a:ext cx="667512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58568" y="2880360"/>
            <a:ext cx="667512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" y="2633472"/>
            <a:ext cx="0" cy="164591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26080" y="2633472"/>
            <a:ext cx="0" cy="164591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2798064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2798064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" y="2962656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26080" y="2962656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90472" y="2496312"/>
            <a:ext cx="768096" cy="768096"/>
          </a:xfrm>
          <a:prstGeom prst="rect">
            <a:avLst/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ED7D31"/>
                </a:solidFill>
                <a:latin typeface="微软雅黑"/>
                <a:ea typeface="微软雅黑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质量块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1709928"/>
            <a:ext cx="0" cy="603504"/>
          </a:xfrm>
          <a:prstGeom prst="line">
            <a:avLst/>
          </a:prstGeom>
          <a:ln w="22860">
            <a:solidFill>
              <a:srgbClr val="2E75B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47672" y="1801368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v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微软雅黑"/>
                <a:ea typeface="微软雅黑"/>
              </a:rPr>
              <a:t>振动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325880"/>
            <a:ext cx="274320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389888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② 旋转:振动+旋转 → 侧向科氏力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49039" y="2880360"/>
            <a:ext cx="941833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58968" y="2880360"/>
            <a:ext cx="393192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49039" y="2633472"/>
            <a:ext cx="0" cy="164591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52160" y="2633472"/>
            <a:ext cx="0" cy="164591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49039" y="2798064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" y="2798064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9039" y="2962656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2962656"/>
            <a:ext cx="0" cy="164592"/>
          </a:xfrm>
          <a:prstGeom prst="line">
            <a:avLst/>
          </a:prstGeom>
          <a:ln w="152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690872" y="2496312"/>
            <a:ext cx="768096" cy="768096"/>
          </a:xfrm>
          <a:prstGeom prst="rect">
            <a:avLst/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ED7D31"/>
                </a:solidFill>
                <a:latin typeface="微软雅黑"/>
                <a:ea typeface="微软雅黑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355848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质量块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00600" y="1709928"/>
            <a:ext cx="0" cy="603504"/>
          </a:xfrm>
          <a:prstGeom prst="line">
            <a:avLst/>
          </a:prstGeom>
          <a:ln w="22860">
            <a:solidFill>
              <a:srgbClr val="2E75B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73752" y="1801368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v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微软雅黑"/>
                <a:ea typeface="微软雅黑"/>
              </a:rPr>
              <a:t>振动</a:t>
            </a:r>
          </a:p>
        </p:txBody>
      </p:sp>
      <p:sp>
        <p:nvSpPr>
          <p:cNvPr id="34" name="Circular Arrow 33"/>
          <p:cNvSpPr/>
          <p:nvPr/>
        </p:nvSpPr>
        <p:spPr>
          <a:xfrm>
            <a:off x="5440680" y="1481328"/>
            <a:ext cx="502920" cy="502920"/>
          </a:xfrm>
          <a:prstGeom prst="circular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2011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32120" y="2057400"/>
            <a:ext cx="0" cy="68580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41848" y="2103120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F 科氏力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00000"/>
                </a:solidFill>
                <a:latin typeface="微软雅黑"/>
                <a:ea typeface="微软雅黑"/>
              </a:rPr>
              <a:t>侧向推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17720"/>
            <a:ext cx="5669280" cy="16916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输出 = 角速度 ω (rad/s)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电容极板检测质量块位移 → ∝ 角速度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▸ F = −2m (ω × v):v 已知,测 F 反解 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1280160"/>
            <a:ext cx="525780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三个必须记住的特点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C00000"/>
                </a:solidFill>
                <a:latin typeface="微软雅黑"/>
                <a:ea typeface="微软雅黑"/>
              </a:rPr>
              <a:t>① 它测角速度,不测角度!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   角度要自己积分:θ = ∫ω·dt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D7D31"/>
                </a:solidFill>
                <a:latin typeface="微软雅黑"/>
                <a:ea typeface="微软雅黑"/>
              </a:rPr>
              <a:t>② 有零偏 bias:静止也输出'假角速度'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   每颗不同(1~3°/s),必须上电校准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D7D31"/>
                </a:solidFill>
                <a:latin typeface="微软雅黑"/>
                <a:ea typeface="微软雅黑"/>
              </a:rPr>
              <a:t>③ 积分误差随时间累积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   1°/s 没校准 → 姿态每分钟漂 60°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结论:陀螺'快但会漂' → 需要绝对基准纠偏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IMU 原理② 加速度计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先想一个电梯问题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7830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691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静止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783080"/>
            <a:ext cx="1005840" cy="1691640"/>
          </a:xfrm>
          <a:prstGeom prst="rect">
            <a:avLst/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1920240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6152" y="2231136"/>
            <a:ext cx="347472" cy="685800"/>
          </a:xfrm>
          <a:prstGeom prst="rect">
            <a:avLst/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127248"/>
            <a:ext cx="768096" cy="146304"/>
          </a:xfrm>
          <a:prstGeom prst="rect">
            <a:avLst/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1600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秤 = 1g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325880"/>
            <a:ext cx="17830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389888"/>
            <a:ext cx="1691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向上加速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1783080"/>
            <a:ext cx="1005840" cy="1691640"/>
          </a:xfrm>
          <a:prstGeom prst="rect">
            <a:avLst/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73552" y="1920240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27832" y="2231136"/>
            <a:ext cx="347472" cy="685800"/>
          </a:xfrm>
          <a:prstGeom prst="rect">
            <a:avLst/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3127248"/>
            <a:ext cx="768096" cy="146304"/>
          </a:xfrm>
          <a:prstGeom prst="rect">
            <a:avLst/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3383280"/>
            <a:ext cx="1600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秤 &gt; 1g 超重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087368" y="1874519"/>
            <a:ext cx="0" cy="640081"/>
          </a:xfrm>
          <a:prstGeom prst="line">
            <a:avLst/>
          </a:prstGeom>
          <a:ln w="2794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77639" y="2542032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1325880"/>
            <a:ext cx="17830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389888"/>
            <a:ext cx="1691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自由下落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0328" y="1783080"/>
            <a:ext cx="1005840" cy="1691640"/>
          </a:xfrm>
          <a:prstGeom prst="rect">
            <a:avLst/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85232" y="1920240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39512" y="2231136"/>
            <a:ext cx="347472" cy="685800"/>
          </a:xfrm>
          <a:prstGeom prst="rect">
            <a:avLst/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3127248"/>
            <a:ext cx="768096" cy="146304"/>
          </a:xfrm>
          <a:prstGeom prst="rect">
            <a:avLst/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383280"/>
            <a:ext cx="1600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</a:rPr>
              <a:t>秤 = 0 失重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9048" y="1920240"/>
            <a:ext cx="0" cy="640080"/>
          </a:xfrm>
          <a:prstGeom prst="line">
            <a:avLst/>
          </a:prstGeom>
          <a:ln w="2794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0" y="196596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E7D32"/>
                </a:solidFill>
                <a:latin typeface="微软雅黑"/>
                <a:ea typeface="微软雅黑"/>
              </a:rPr>
              <a:t>自由落体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43400"/>
            <a:ext cx="580644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关键洞察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▸ 秤测的从来不是'加速度',是'支撑力'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▸ 加速度计就是那个'秤':它测的是比力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      f = a − g   (specific force)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静止时 a=0 → 输出恰好是 −g(重力!)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微软雅黑"/>
                <a:ea typeface="微软雅黑"/>
              </a:rPr>
              <a:t>   → 免费获得'永远指向地心'的参考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1325880"/>
            <a:ext cx="525780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于是加速度计 = 倾角计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2E75B6"/>
                </a:solidFill>
                <a:latin typeface="微软雅黑"/>
                <a:ea typeface="微软雅黑"/>
              </a:rPr>
              <a:t>roll  = atan2( ay , az )</a:t>
            </a:r>
          </a:p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2E75B6"/>
                </a:solidFill>
                <a:latin typeface="微软雅黑"/>
                <a:ea typeface="微软雅黑"/>
              </a:rPr>
              <a:t>pitch = atan2( −ax , √(ay²+az²) 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板子一倾斜,重力在三轴的分量就变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→ 解三角函数就能反推出倾角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840480"/>
            <a:ext cx="5257800" cy="24688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C00000"/>
                </a:solidFill>
                <a:latin typeface="微软雅黑"/>
                <a:ea typeface="微软雅黑"/>
              </a:rPr>
              <a:t>但它有个致命弱点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▸ 它分不清'重力'和'运动加速度'!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电机一转、机身一晃,读数立刻被污染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转弯的离心加速度也会被当成'倾斜'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结论:加计'准但脏' → 静止是天使,机动是噪音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IMU 原理③ 为什么融合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一个管快,一个管准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05840" y="1554480"/>
            <a:ext cx="0" cy="2606040"/>
          </a:xfrm>
          <a:prstGeom prst="line">
            <a:avLst/>
          </a:prstGeom>
          <a:ln w="2286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" y="4160520"/>
            <a:ext cx="8412480" cy="0"/>
          </a:xfrm>
          <a:prstGeom prst="line">
            <a:avLst/>
          </a:prstGeom>
          <a:ln w="2286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1481328"/>
            <a:ext cx="777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95959"/>
                </a:solidFill>
                <a:latin typeface="微软雅黑"/>
                <a:ea typeface="微软雅黑"/>
              </a:rPr>
              <a:t>可信度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微软雅黑"/>
                <a:ea typeface="微软雅黑"/>
              </a:rPr>
              <a:t>低频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22452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微软雅黑"/>
                <a:ea typeface="微软雅黑"/>
              </a:rPr>
              <a:t>高频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22452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信号的频率 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1997049"/>
            <a:ext cx="290648" cy="21824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96488" y="2215292"/>
            <a:ext cx="290649" cy="19467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87137" y="2409965"/>
            <a:ext cx="290648" cy="173649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77785" y="2583614"/>
            <a:ext cx="290649" cy="154896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68434" y="2738510"/>
            <a:ext cx="290648" cy="138167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59082" y="2876677"/>
            <a:ext cx="290649" cy="123246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9731" y="2999923"/>
            <a:ext cx="290649" cy="109935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40380" y="3109858"/>
            <a:ext cx="290648" cy="9806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31028" y="3207921"/>
            <a:ext cx="290649" cy="87472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21677" y="3295393"/>
            <a:ext cx="290648" cy="78026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12325" y="3373419"/>
            <a:ext cx="290649" cy="69599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02974" y="3443018"/>
            <a:ext cx="290648" cy="6208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93622" y="3505101"/>
            <a:ext cx="290649" cy="55378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84271" y="3560479"/>
            <a:ext cx="290649" cy="49397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74920" y="3609876"/>
            <a:ext cx="290648" cy="44062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65568" y="3653938"/>
            <a:ext cx="290649" cy="39304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56217" y="3693242"/>
            <a:ext cx="290648" cy="35059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46865" y="3728301"/>
            <a:ext cx="290649" cy="3127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37514" y="3759574"/>
            <a:ext cx="290648" cy="27896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28162" y="3787470"/>
            <a:ext cx="290649" cy="24882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18811" y="3812352"/>
            <a:ext cx="290649" cy="22196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09460" y="3834548"/>
            <a:ext cx="290648" cy="19799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00108" y="3854347"/>
            <a:ext cx="290649" cy="17660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90757" y="3872007"/>
            <a:ext cx="290648" cy="1575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81405" y="3887760"/>
            <a:ext cx="290649" cy="14052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72054" y="3901812"/>
            <a:ext cx="290648" cy="12534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62702" y="3914346"/>
            <a:ext cx="290649" cy="11181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53351" y="3925527"/>
            <a:ext cx="290649" cy="9973"/>
          </a:xfrm>
          <a:prstGeom prst="line">
            <a:avLst/>
          </a:prstGeom>
          <a:ln w="355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05840" y="3193083"/>
            <a:ext cx="290648" cy="44440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96488" y="2870844"/>
            <a:ext cx="290649" cy="322239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587137" y="2637184"/>
            <a:ext cx="290648" cy="23366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877785" y="2467754"/>
            <a:ext cx="290649" cy="16943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168434" y="2344898"/>
            <a:ext cx="290648" cy="122856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59082" y="2255814"/>
            <a:ext cx="290649" cy="8908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49731" y="2191218"/>
            <a:ext cx="290649" cy="64596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040380" y="2144379"/>
            <a:ext cx="290648" cy="46839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31028" y="2110415"/>
            <a:ext cx="290649" cy="3396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1677" y="2085787"/>
            <a:ext cx="290648" cy="24628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12325" y="2067930"/>
            <a:ext cx="290649" cy="17857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02974" y="2054981"/>
            <a:ext cx="290648" cy="12949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493622" y="2045591"/>
            <a:ext cx="290649" cy="939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784271" y="2038783"/>
            <a:ext cx="290649" cy="6808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074920" y="2033846"/>
            <a:ext cx="290648" cy="4937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65568" y="2030266"/>
            <a:ext cx="290649" cy="358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656217" y="2027671"/>
            <a:ext cx="290648" cy="2595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946865" y="2025788"/>
            <a:ext cx="290649" cy="1883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237514" y="2024424"/>
            <a:ext cx="290648" cy="136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528162" y="2023434"/>
            <a:ext cx="290649" cy="99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818811" y="2022716"/>
            <a:ext cx="290649" cy="718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109460" y="2022196"/>
            <a:ext cx="290648" cy="520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400108" y="2021819"/>
            <a:ext cx="290649" cy="377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90757" y="2021545"/>
            <a:ext cx="290648" cy="27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981405" y="2021347"/>
            <a:ext cx="290649" cy="198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272054" y="2021203"/>
            <a:ext cx="290648" cy="14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562702" y="2021099"/>
            <a:ext cx="290649" cy="104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853351" y="2021023"/>
            <a:ext cx="290649" cy="76"/>
          </a:xfrm>
          <a:prstGeom prst="line">
            <a:avLst/>
          </a:prstGeom>
          <a:ln w="3556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234440" y="169164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加速度计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178308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陀螺仪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617720" y="1600200"/>
            <a:ext cx="0" cy="256032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977639" y="1325880"/>
            <a:ext cx="2103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交界(截止频率)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88720" y="4892040"/>
            <a:ext cx="3840480" cy="1371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互补滤波 = 频域分工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姿态 = 低通(加计) + 高通(陀螺)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两条曲线拼起来 = 全带宽可信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49240" y="4892040"/>
            <a:ext cx="6446520" cy="1371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落到这个项目上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陀螺积分给'动态',加计长期'拽回'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▸ Mahony 就是这种融合的经典实现(后面详拆)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姿态怎么表示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先画两个坐标系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世界系(固定不动): 东-北-地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3794760"/>
            <a:ext cx="123444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3648456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微软雅黑"/>
                <a:ea typeface="微软雅黑"/>
              </a:rPr>
              <a:t>y东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65960" y="2560320"/>
            <a:ext cx="0" cy="123444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20824" y="2313432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微软雅黑"/>
                <a:ea typeface="微软雅黑"/>
              </a:rPr>
              <a:t>x北</a:t>
            </a:r>
          </a:p>
        </p:txBody>
      </p:sp>
      <p:sp>
        <p:nvSpPr>
          <p:cNvPr id="12" name="Oval 11"/>
          <p:cNvSpPr/>
          <p:nvPr/>
        </p:nvSpPr>
        <p:spPr>
          <a:xfrm>
            <a:off x="1874519" y="3703320"/>
            <a:ext cx="182880" cy="182880"/>
          </a:xfrm>
          <a:prstGeom prst="ellipse">
            <a:avLst/>
          </a:prstGeom>
          <a:noFill/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911095" y="3739896"/>
            <a:ext cx="109729" cy="109728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11095" y="3739896"/>
            <a:ext cx="109729" cy="109728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75688" y="364845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95959"/>
                </a:solidFill>
                <a:latin typeface="微软雅黑"/>
                <a:ea typeface="微软雅黑"/>
              </a:rPr>
              <a:t>z地(出屏)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353312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机体系(跟着飞机转)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43400" y="2409086"/>
            <a:ext cx="1046864" cy="654154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35984" y="2317646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x前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3400" y="3063240"/>
            <a:ext cx="348954" cy="557241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65506" y="3638769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y右</a:t>
            </a:r>
          </a:p>
        </p:txBody>
      </p:sp>
      <p:sp>
        <p:nvSpPr>
          <p:cNvPr id="21" name="Oval 20"/>
          <p:cNvSpPr/>
          <p:nvPr/>
        </p:nvSpPr>
        <p:spPr>
          <a:xfrm>
            <a:off x="4251960" y="2971800"/>
            <a:ext cx="182880" cy="182880"/>
          </a:xfrm>
          <a:prstGeom prst="ellipse">
            <a:avLst/>
          </a:prstGeom>
          <a:noFill/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288536" y="3008376"/>
            <a:ext cx="109728" cy="109728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288536" y="3008376"/>
            <a:ext cx="109728" cy="109728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53128" y="291693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z下(出屏)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0" y="2560320"/>
            <a:ext cx="0" cy="0"/>
          </a:xfrm>
          <a:prstGeom prst="line">
            <a:avLst/>
          </a:prstGeom>
          <a:ln w="3302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46320" y="3566160"/>
            <a:ext cx="0" cy="0"/>
          </a:xfrm>
          <a:prstGeom prst="line">
            <a:avLst/>
          </a:prstGeom>
          <a:ln w="3302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675887" y="2395728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09744" y="2395728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75887" y="3529584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09744" y="3529584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ircular Arrow 30"/>
          <p:cNvSpPr/>
          <p:nvPr/>
        </p:nvSpPr>
        <p:spPr>
          <a:xfrm>
            <a:off x="2880360" y="2377440"/>
            <a:ext cx="548640" cy="548640"/>
          </a:xfrm>
          <a:prstGeom prst="circular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16916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姿态 q =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00000"/>
                </a:solidFill>
                <a:latin typeface="微软雅黑"/>
                <a:ea typeface="微软雅黑"/>
              </a:rPr>
              <a:t>这两个坐标系的旋转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5303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传感器读数在机体系;重力在世界系 z 轴 → 解算=找两者关系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0" y="1280160"/>
          <a:ext cx="53949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34747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表示方法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一句话评价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欧拉角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直观;有万向节锁;适合给人看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旋转矩阵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无奇异;但参数冗余运算大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四元数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无奇异;只有乘加;工程首选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400800" y="3657600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</a:rPr>
              <a:t>万向节锁,一句话版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欧拉角规定按 Z→Y→X 三次转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抬头到 90° 那一刻,第一次转的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   偏航和第三次转的横滚变成同一根轴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▸ 三个自由度只剩两个 → 姿态'卡死'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</a:rPr>
              <a:t>四元数/矩阵'一次转到位',没有这个坑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四元数怎么用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别怕,工程上只用三招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4114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直觉:单位四元数 = 绕某根轴转一个角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920240" y="2194560"/>
            <a:ext cx="1554480" cy="1051560"/>
          </a:xfrm>
          <a:prstGeom prst="line">
            <a:avLst/>
          </a:prstGeom>
          <a:ln w="317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1920239"/>
            <a:ext cx="1463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转轴 n</a:t>
            </a:r>
          </a:p>
        </p:txBody>
      </p:sp>
      <p:sp>
        <p:nvSpPr>
          <p:cNvPr id="10" name="Circular Arrow 9"/>
          <p:cNvSpPr/>
          <p:nvPr/>
        </p:nvSpPr>
        <p:spPr>
          <a:xfrm>
            <a:off x="3154680" y="2560320"/>
            <a:ext cx="566928" cy="566928"/>
          </a:xfrm>
          <a:prstGeom prst="circular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926079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  <a:ea typeface="微软雅黑"/>
              </a:rPr>
              <a:t>转角 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783080"/>
            <a:ext cx="4206240" cy="56692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E75B6"/>
                </a:solidFill>
                <a:latin typeface="微软雅黑"/>
                <a:ea typeface="微软雅黑"/>
              </a:rPr>
              <a:t>q = [ cos(θ/2),  n·sin(θ/2)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69080"/>
            <a:ext cx="5486400" cy="22402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工程上只需记住三件事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① q⊗p = 两个旋转叠加(先q后p)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② |q| 必须保持 = 1(每步归一化)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③ 共轭 q* = 反着转(坐标系互转用)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</a:rPr>
              <a:t>内部用四元数算,给人看时转欧拉角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80160"/>
            <a:ext cx="5440680" cy="22402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唯一的核心方程:姿态更新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5B6"/>
                </a:solidFill>
                <a:latin typeface="微软雅黑"/>
                <a:ea typeface="微软雅黑"/>
              </a:rPr>
              <a:t>q̇ = ½ q ⊗ [0, ω]</a:t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每个周期:  q ← q + q̇·dt , 再归一化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陀螺的角速度,就这样'转'进姿态里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440680" cy="2514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输出:转成欧拉角给人看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roll  = atan2( 2(q0q1+q2q3), 1−2(q1²+q2²) 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pitch = asin( 2(q0q2−q3q1) 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yaw   = atan2( 2(q0q3+q1q2), 1−2(q2²+q3²) )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三个易错点:ω 用 rad/s 且减零偏;dt 用实测;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asin 参数钳位防 NaN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Mahony 互补滤波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总框图:陀螺主内,加计纠偏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陀螺 ω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rad/s·去零偏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417320"/>
            <a:ext cx="50292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积分更新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q ← q+½q⊗ω'·dt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四元数 q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每步归一化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欧拉角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roll/pitch/yaw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632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重力预测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v = R(q)ᵀ·[0,0,1]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63240"/>
            <a:ext cx="502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加计 a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归一化为单位向量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PI 修正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ω' = ω + Kp·e + Ki·∫e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1709928"/>
            <a:ext cx="4572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1709928"/>
            <a:ext cx="4114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1709928"/>
            <a:ext cx="50292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1709928"/>
            <a:ext cx="5486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2103120"/>
            <a:ext cx="0" cy="96012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09160" y="3447288"/>
            <a:ext cx="128016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8840" y="3447288"/>
            <a:ext cx="20574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31920" y="3840480"/>
            <a:ext cx="521208" cy="5943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34640" y="4846320"/>
            <a:ext cx="502920" cy="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34640" y="2011680"/>
            <a:ext cx="0" cy="283464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00600" y="2697480"/>
            <a:ext cx="1737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误差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89204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D7D31"/>
                </a:solidFill>
                <a:latin typeface="微软雅黑"/>
                <a:ea typeface="微软雅黑"/>
              </a:rPr>
              <a:t>修正量回注陀螺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063240"/>
            <a:ext cx="1828800" cy="2194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有效性门限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|a| 超出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[0.5,20]m/s²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</a:rPr>
              <a:t>跳过修正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(机动时只信陀螺)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Mahony 四步拆解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每步一行代码级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① 重力预测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188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由当前 q 算'重力应在机体系哪个方向'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v = R(q)ᵀ·[0,0,1]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vx = q1q3 − q0q2   vy = q0q1 + q2q3   vz = q0² − ½ + q3²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② 误差 = 叉积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331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实测重力方向 × 预测方向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e = a_norm ×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331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方向=转回去的轴, 大小=sin夹角 (两个都是单位向量)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③ PI 修正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474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误差换算成角速度修正量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ω' = ω + Kp·e + Ki·∫e·dt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474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Kp:立即拽回(收敛快但抖)  Ki:消恒值零偏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17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④ 积分+归一化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4617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修正后的角速度进积分器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q ← q + ½·q⊗ω'·dt ; q ← q/|q|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617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归一化防数值发散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247120" cy="8229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调参指引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Kp 从 0.5 起:静止收敛 1~2s 为宜,太快抖/太慢肉;Ki 取 Kp 的 1/10。验证:手转任意角度回平,roll/pitch 应秒级归零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深挖① 误差叉积为什么能用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几何 + 来路 + PI 的物理意义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212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两个单位向量:预测的重力 vs 实测的重力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1325880" y="2148840"/>
            <a:ext cx="1783080" cy="1783080"/>
          </a:xfrm>
          <a:prstGeom prst="line">
            <a:avLst/>
          </a:prstGeom>
          <a:ln w="3302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183794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微软雅黑"/>
                <a:ea typeface="微软雅黑"/>
              </a:rPr>
              <a:t>v̂ 预测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08960" y="1828800"/>
            <a:ext cx="685800" cy="2103120"/>
          </a:xfrm>
          <a:prstGeom prst="line">
            <a:avLst/>
          </a:prstGeom>
          <a:ln w="3302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67912" y="153619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  <a:ea typeface="微软雅黑"/>
              </a:rPr>
              <a:t>â 实测</a:t>
            </a:r>
          </a:p>
        </p:txBody>
      </p:sp>
      <p:sp>
        <p:nvSpPr>
          <p:cNvPr id="12" name="Circular Arrow 11"/>
          <p:cNvSpPr/>
          <p:nvPr/>
        </p:nvSpPr>
        <p:spPr>
          <a:xfrm>
            <a:off x="2240280" y="2880360"/>
            <a:ext cx="685800" cy="685800"/>
          </a:xfrm>
          <a:prstGeom prst="circular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夹角 θe</a:t>
            </a:r>
          </a:p>
        </p:txBody>
      </p:sp>
      <p:sp>
        <p:nvSpPr>
          <p:cNvPr id="14" name="Oval 13"/>
          <p:cNvSpPr/>
          <p:nvPr/>
        </p:nvSpPr>
        <p:spPr>
          <a:xfrm>
            <a:off x="2926079" y="2514600"/>
            <a:ext cx="182880" cy="182880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962656" y="2551176"/>
            <a:ext cx="109728" cy="109728"/>
          </a:xfrm>
          <a:prstGeom prst="line">
            <a:avLst/>
          </a:prstGeom>
          <a:ln w="1905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62656" y="2551176"/>
            <a:ext cx="109728" cy="109728"/>
          </a:xfrm>
          <a:prstGeom prst="line">
            <a:avLst/>
          </a:prstGeom>
          <a:ln w="1905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7248" y="245973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e 的方向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e = â × v̂ :|e| = sin θe ,方向 = 把 v̂ 转到 â 的那根轴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09160"/>
            <a:ext cx="5212080" cy="1600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为什么这是'姿态误差'?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两个重力方向差多少 = 姿态估歪多少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小角度时 sinθe ≈ θe → e 就是现成的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   线性误差信号,直接当角速度用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234440"/>
            <a:ext cx="5852160" cy="18288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v̂ 的来路:把世界系 z 轴转到机体系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v̂ = R(q)ᵀ · [0,0,1] ,展开就是代码里的: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vx = 2(q1q3−q0q2)  vy = 2(q0q1+q2q3)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vz = q0²−q1²−q2²+q3²   (代码存一半值)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5852160" cy="30632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PI 两项各自在干什么</a:t>
            </a:r>
          </a:p>
          <a:p>
            <a:pPr algn="l">
              <a:spcAft>
                <a:spcPts val="200"/>
              </a:spcAft>
            </a:pPr>
            <a:r>
              <a:rPr sz="3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Kp·e:比例拽回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等价于一阶互补滤波的截止频率: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Kp 大 = 更信加计、收敛快;Kp 小 = 更信陀螺</a:t>
            </a:r>
          </a:p>
          <a:p>
            <a:pPr algn="l">
              <a:spcAft>
                <a:spcPts val="200"/>
              </a:spcAft>
            </a:pPr>
            <a:r>
              <a:rPr sz="5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Ki·∫e:其实是在线估计陀螺零偏!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恒定的误差被积分器慢慢攒下来,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正好就是'没校干净的零偏',自动补偿</a:t>
            </a:r>
          </a:p>
          <a:p>
            <a:pPr algn="l">
              <a:spcAft>
                <a:spcPts val="200"/>
              </a:spcAft>
            </a:pPr>
            <a:r>
              <a:rPr sz="5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  <a:ea typeface="微软雅黑"/>
              </a:rPr>
              <a:t>局限:重力绕 z 轴对称 → 加计对 yaw 无感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→ yaw 只靠陀螺,会慢漂(想不漂要磁力计)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深挖② 数值实现细节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从公式到代码的四件事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62356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① 离散积分的四行标量式</a:t>
            </a:r>
          </a:p>
          <a:p>
            <a:pPr algn="l">
              <a:spcAft>
                <a:spcPts val="200"/>
              </a:spcAft>
            </a:pPr>
            <a:r>
              <a:rPr sz="3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先算 g = ω'·dt/2 ,然后(用同一拍旧 q!):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q0 += −q1·gx − q2·gy − q3·gz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q1 +=  q0·gx + q3·gy − q2·gz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q2 +=  q3·gx − q0·gy + q1·gz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q3 += −q2·gx + q1·gy + q0·gz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▸ 四行必须用更新前的旧 q (先备份)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56235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② 每步归一化,为什么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截断误差让 |q| 慢慢 ≠ 1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|q|≠1 的四元数不再是纯旋转,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姿态会'缩水/变形'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▸ q ← q / |q| ,一次 sqrt + 4 次除法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500Hz 下开销可忽略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44068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③ 欧拉角从旋转矩阵元素来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atan2 不是拍脑袋:正好取自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R(q) 里对应的两两组合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单值域:roll/yaw ∈ (−π,π]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pitch ∈ [−π/2, π/2] 用 asin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▸ asin 内层必须钳位,否则 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023360"/>
            <a:ext cx="5440680" cy="22860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④ 三个高频翻车点(实测踩过)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单位混乱:deg/s 与 rad/s 混用 →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姿态慢 57 倍,一眼假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忘减零偏 → 静止也在'匀速旋转'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dt 用猜不用测 → 收敛速度不对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垂直加速度 az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去掉重力,才知道悬停了没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57784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5B6"/>
                </a:solidFill>
                <a:latin typeface="微软雅黑"/>
                <a:ea typeface="微软雅黑"/>
              </a:rPr>
              <a:t>a_world = R(q) · a_body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取世界系 z 分量(R 第三行):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az = 2(q1q3−q0q2)·ax + 2(q2q3+q0q1)·ay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     + (q0²−q1²−q2²+q3²)·az_b − g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物理含义:扣除重力后的净垂直加速度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55778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为什么需要它?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没有气压计/高度计 → 无法直接定高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但'悬停'的物理条件是 az = 0(升力=重力)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用加速度闭环逼近悬停,不积分不发散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精度依赖姿态精度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姿态误差 θ → az 误差 ≈ g·θ²/2(二阶小量)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小角度下安全;大倾角需姿态准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D7D31"/>
                </a:solidFill>
                <a:latin typeface="微软雅黑"/>
                <a:ea typeface="微软雅黑"/>
              </a:rPr>
              <a:t>▸ 曾发现系数符号写反(转置矩阵)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2E7D32"/>
                </a:solidFill>
                <a:latin typeface="微软雅黑"/>
                <a:ea typeface="微软雅黑"/>
              </a:rPr>
              <a:t>   → 已修复并加回归用例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840480"/>
            <a:ext cx="5303520" cy="25603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az 环怎么用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悬停态:throttle −= az × 0.0002 (每 5ms)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az&gt;0 在升 → 收油门;az&lt;0 在掉 → 加油门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收敛到 az≈0,即'加速度意义下的悬停'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局限:速度不为零时托住的是'趋势',会缓慢漂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姿态解算实用要点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门限 · 调参 · 滤波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50292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修正门限(重要)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当 |a| ∉ [0.5, 20] m/s²: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跳过加计修正,只信陀螺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为什么?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机动/振动时,加计测的不只是重力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这时它的'倾角信息'是错的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宁可暂时漂,也不能被它带偏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→ 类比:导航员晕船时,先别听他的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5029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两个参数怎么调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Kp = 0.5:拽回的力度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大:收敛快但姿态抖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小:平稳但纠偏慢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▸ 判据:静止放置 1~2 秒对准水平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Ki = 0.05:消'慢性子'偏差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针对陀螺残余零偏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从 Kp/10 起步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本项目: Kp=0.5, Ki=0.05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234440"/>
            <a:ext cx="3611880" cy="5029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进数据前先滤波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y[n]=(1−α)y[n−1]+αx[n]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电机/机架振动几十~几百Hz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姿态信号 &lt;20Hz,滤掉不吃亏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两级级联=二阶,更干净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取舍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D7D31"/>
                </a:solidFill>
                <a:latin typeface="微软雅黑"/>
                <a:ea typeface="微软雅黑"/>
              </a:rPr>
              <a:t>▸ 滤得越狠,相位滞后越大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加计重滤(只供慢基准)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陀螺轻滤(内环要快)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系统架构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四任务流水线 + 中断前端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MPU6050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I²C 400kHz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600200" cy="82296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手机 App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BLE→UART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ImuRead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500Hz · 优先级6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采集+零偏校准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Attitude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500Hz · 优先级5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滤波+Mahony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Control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200Hz · 优先级4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安全链+串级PID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170432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Mixer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+ TIM3 PWM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4kHz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834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Comm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事件驱动 · 优先级3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BLE帧解析分发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34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USART1 ISR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逐字节接收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1664208"/>
            <a:ext cx="6858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664208"/>
            <a:ext cx="9144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1664208"/>
            <a:ext cx="914400" cy="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1664208"/>
            <a:ext cx="3200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51760" y="3291840"/>
            <a:ext cx="91440" cy="0"/>
          </a:xfrm>
          <a:prstGeom prst="line">
            <a:avLst/>
          </a:prstGeom>
          <a:ln w="25400">
            <a:solidFill>
              <a:srgbClr val="2E75B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291840"/>
            <a:ext cx="91440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00800" y="2148840"/>
            <a:ext cx="0" cy="68580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09160" y="173736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队列×10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73736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</a:rPr>
              <a:t>g_att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10128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队列×64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28600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</a:rPr>
              <a:t>SetTarget/Arm/Emergency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557784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设计要点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采集/解算/控制/通信四任务解耦,数据流单向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队列做背压与缓冲,ISR 只做入队(短平快)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零偏校准放 ImuRead:运行期单一 I²C 拥有者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姿态共享区:高优先级写+临界区读,免锁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0624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频率与负载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500Hz 采样匹配 MPU6050 输出率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200Hz 控制 = 5ms,角度环带宽足够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Control 每拍喂 IWDG,卡死 1s 内复位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浮点全走 FPU,CPU 占用估算 &lt;30%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PID 控制原理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P/I/D 三项各自的本质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连续形式</a:t>
            </a:r>
          </a:p>
          <a:p>
            <a:pPr algn="ctr">
              <a:spcAft>
                <a:spcPts val="200"/>
              </a:spcAft>
            </a:pPr>
            <a:r>
              <a:rPr sz="1650" b="1" i="0">
                <a:solidFill>
                  <a:srgbClr val="2E75B6"/>
                </a:solidFill>
                <a:latin typeface="微软雅黑"/>
                <a:ea typeface="微软雅黑"/>
              </a:rPr>
              <a:t>u(t) = Kp·e(t) + Ki·∫e(t)dt + Kd·de/dt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e = 目标值 − 反馈值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3212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离散实现(每拍执行)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integral += e·dt;  deriv = (e−e_prev)/dt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u = Kp·e + Ki·integral + Kd·deriv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2928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108960"/>
                <a:gridCol w="3017520"/>
                <a:gridCol w="41605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物理直觉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带来的好处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副作用(没有免费的午餐)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 比例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'现在'的误差,立即纠正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响应快,主干增益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留稳态误差;过大致震荡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 积分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'过去'误差的累积,不归零不罢休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消除稳态误差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响应慢;积分饱和→超调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D 微分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'未来'趋势的预判,提前刹车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阻尼,抑制震荡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放大噪声;打杆瞬间 kick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工程整定顺序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① 先 P:加到临界震荡,回退 ~30%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② 再 D:压住震荡(加阻尼)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③ 最后小 I:只用来消静差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074920"/>
            <a:ext cx="5532120" cy="1371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两个进阶细节(实现中落地)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D 用测量值微分 → 消 derivative kick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I 用输出限幅 + 回算 → 抗积分饱和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串级 PID 实现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角度环 P + 角速度环 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目标角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±30°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角度环 P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×6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期望角速度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限±200°/s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角速度环 PID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200Hz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力矩 ±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R/P/Y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E75B6"/>
                </a:solidFill>
                <a:latin typeface="微软雅黑"/>
                <a:ea typeface="微软雅黑"/>
              </a:rPr>
              <a:t>e = 目标角−姿态角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659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D7D31"/>
                </a:solidFill>
                <a:latin typeface="微软雅黑"/>
                <a:ea typeface="微软雅黑"/>
              </a:rPr>
              <a:t>e = 期望−实测ω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5146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34747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kp_angle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6.0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角度差→期望角速度(姿态自稳刚度)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kp_rate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0.15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角速度误差→力矩(阻尼)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ki_rate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2.0 /s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消除恒值扰动(重心偏/风)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kd_rate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0.005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角速度变化率的阻尼(抑震荡)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80060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为什么串级?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单级角度PID:姿态已经错了才大力纠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内环以200Hz锁死角速度,扰动在'变成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   姿态错误'前就被吸收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▸ yaw 无角度外环(无磁力计,航向不可观)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14600"/>
            <a:ext cx="5486400" cy="3840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</a:rPr>
              <a:t>三个工程细节(踩坑修复项)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① 积分 ×dt:离散积分量纲归一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I_out = ki·Σ(e·dt),不随控制频率变义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② 抗饱和 = 输出限幅 + 回算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I 项权限钳 ±0.15(15%油门),超限回写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③ D 项用测量值微分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d(−gyro)/dt 而非 d(err)/dt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→ 打杆瞬间无 derivative kick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X 型混控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把第二章的力矩公式变成代码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M2 前左(逆)      M1 前右(顺)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╲            ╱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  ╲        ╱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           ╳   机头↑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  ╱        ╲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╱            ╲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M3 后左(顺)      M4 后右(逆)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混控矩阵 (T=油门, R/P/Y=力矩)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M1 = T + P − R − Y      M2 = T + P + R + Y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M3 = T − P + R − Y      M4 = T − P − R + 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各路 clamp [0,1] 后写 TIM3 CCR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79476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微软雅黑"/>
                <a:ea typeface="微软雅黑"/>
              </a:rPr>
              <a:t>对照受力页:+R=左桨加速(右滚) +P=前桨加速(抬头)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4340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共模/差模视角(关键)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油门 = 共模:四桨同增减 → 只变总推力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力矩 = 差模:对角互补,和为零 → 只变力矩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▸ 二者近似正交 → 高度环与姿态环解耦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5120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⚠ 首飞前必台架验证:通道映射与桨向(拆桨!)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飞行状态机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五个状态,核心是'油门归谁管'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IDLE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上电/急停后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电机停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DISARMED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已解锁,油门&lt;5%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电机停,等推杆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FOLLOW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油门&gt;5%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油门直接跟杆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HOVER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松杆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az闭环悬停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LANDING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收油/超时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匀速缓降-0.3/s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04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54480" y="2651760"/>
            <a:ext cx="10241280" cy="0"/>
          </a:xfrm>
          <a:prstGeom prst="line">
            <a:avLst/>
          </a:prstGeom>
          <a:ln w="25400">
            <a:solidFill>
              <a:srgbClr val="ED7D31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54480" y="2606040"/>
            <a:ext cx="0" cy="45720"/>
          </a:xfrm>
          <a:prstGeom prst="line">
            <a:avLst/>
          </a:prstGeom>
          <a:ln w="25400">
            <a:solidFill>
              <a:srgbClr val="ED7D31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0" y="26974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D7D31"/>
                </a:solidFill>
                <a:latin typeface="微软雅黑"/>
                <a:ea typeface="微软雅黑"/>
              </a:rPr>
              <a:t>落地自动上锁 → IDLE(任意时刻可被急停拉回)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迁移规则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解锁+推油门&gt;5% → FOLLOW 起飞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松杆 → HOVER:保留当前油门为闭环起点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HOVER 满 3s → 自动缓降(独立计时器)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再推杆 → 从 HOVER 抢回 FOLLOW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落地(油门降到0) → 自动上锁回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832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操作者视角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姿态杆任何飞行状态都有效(姿态环常开)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▸ 唯一时序规则:'松杆3秒必降落'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悬停中打杆平移,az环自动补倾角掉高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落地自动 disarm,不会'落地又窜起'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七级安全链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每 5ms 自上而下短路评估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2286000"/>
                <a:gridCol w="137160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触发条件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设计考量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急停锁存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emergency 标志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电机立即停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上锁才能清除,防误触恢复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未解锁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!armed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电机停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上电锁:双重防线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2.5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数据有效性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NaN/Inf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立即急停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NaN 比较恒假,会绕过一切保护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姿态超限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|角|&gt;45° 持续200ms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去抖防单帧噪声误杀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失控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1s 无指令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转缓降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不直接停机(半空断电=摔)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悬停超时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HOVER 满 3s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转缓降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无高度计,限制久悬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姿态丢失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0.5s 无新姿态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防电机冻结在最后占空比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看门狗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IWDG 1s 未喂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芯片复位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任务卡死兜底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49240"/>
            <a:ext cx="1124712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设计原则:失效安全逐级降级 —— 能缓降不悬停,能悬停不停机,该停机绝不犹豫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三环如何协同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呼应受力分析:推力方向 vs 大小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96012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az 环(慢环):管推力大小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积分式调油门 ≤0.4油门/s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63240"/>
            <a:ext cx="539496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姿态环→角速度环(快环):管推力方向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200Hz,毫秒级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2103120" cy="1051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Mixer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共模‖差模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1031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4×电机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PWM 4kHz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194560"/>
            <a:ext cx="3200400" cy="18288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00400" y="2926080"/>
            <a:ext cx="3200400" cy="64008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2624328"/>
            <a:ext cx="5486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2080" y="1783080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微软雅黑"/>
                <a:ea typeface="微软雅黑"/>
              </a:rPr>
              <a:t>油门T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5760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D7D31"/>
                </a:solidFill>
                <a:latin typeface="微软雅黑"/>
                <a:ea typeface="微软雅黑"/>
              </a:rPr>
              <a:t>力矩R/P/Y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292840" cy="1783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</a:rPr>
              <a:t>三条真实耦合通路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① 倾角→升力损失:垂直升力×cosθ → az环被动补油门(悬停压坡不掉高,有利)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② 电机饱和抢权限:油门贴 0.85/0.30 边界时姿态差动被削 → 预留15%余量(待做去饱和)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③ 估计误差串扰:az 由姿态四元数算出,姿态不准→az不准(二阶小量)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通信协议设计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帧五要素 + 逐字节状态机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0xA5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STX 定界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CMD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命令字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LEN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长度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DATA 0~16B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小端float32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XOR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0x5A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ETX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5486400" cy="32918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帧设计原则(任何二进制协议通用)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① 定界符:流中找帧头(允许丢字节重同步)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② 长度:先读长度再收数据,防粘包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③ 校验:XOR/CRC 检错,失败整帧丢弃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④ 帧尾:独立校验,防'校验值恰好=帧尾'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⑤ 数据带范围与 isfinite 校验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ISR 只入队,任务里解析(中断要短)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06040"/>
            <a:ext cx="5303520" cy="32918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逐字节状态机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IDLE → CMD → LEN → DATA → CHK → ETX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任何一步非法 → 回 IDLE 重新找帧头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天然处理:断流/粘包/半帧/误码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常用命令示例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0x40 SETPOINT: 4×float (T/roll/pitch/yaw)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0x24 ARM: 1字节   0x20: 急停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BDD7EE"/>
                </a:solidFill>
                <a:latin typeface="微软雅黑"/>
                <a:ea typeface="微软雅黑"/>
              </a:rPr>
              <a:t>受力与扭矩 · IMU · 姿态解算 · 控制 —— 每一块都可以往深了聊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谢谢聆听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代码: github.com/xiexiaoan147-cyber/STM32F4_Drone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